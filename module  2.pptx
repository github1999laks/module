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7" r:id="rId8"/>
    <p:sldId id="278" r:id="rId9"/>
    <p:sldId id="279" r:id="rId10"/>
    <p:sldId id="262" r:id="rId11"/>
    <p:sldId id="263" r:id="rId12"/>
    <p:sldId id="264" r:id="rId13"/>
    <p:sldId id="276" r:id="rId14"/>
    <p:sldId id="265" r:id="rId15"/>
    <p:sldId id="266" r:id="rId16"/>
    <p:sldId id="269" r:id="rId17"/>
    <p:sldId id="270" r:id="rId18"/>
    <p:sldId id="271" r:id="rId19"/>
    <p:sldId id="272" r:id="rId20"/>
    <p:sldId id="273"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6" r:id="rId35"/>
    <p:sldId id="297" r:id="rId36"/>
    <p:sldId id="300" r:id="rId37"/>
    <p:sldId id="301" r:id="rId38"/>
    <p:sldId id="303" r:id="rId39"/>
    <p:sldId id="307" r:id="rId40"/>
    <p:sldId id="308" r:id="rId41"/>
    <p:sldId id="309" r:id="rId42"/>
    <p:sldId id="310" r:id="rId43"/>
    <p:sldId id="311" r:id="rId44"/>
    <p:sldId id="312" r:id="rId45"/>
    <p:sldId id="302" r:id="rId46"/>
    <p:sldId id="315" r:id="rId47"/>
    <p:sldId id="316" r:id="rId48"/>
    <p:sldId id="317" r:id="rId49"/>
    <p:sldId id="318" r:id="rId50"/>
    <p:sldId id="319" r:id="rId51"/>
    <p:sldId id="320" r:id="rId52"/>
    <p:sldId id="321" r:id="rId53"/>
    <p:sldId id="322" r:id="rId54"/>
    <p:sldId id="323" r:id="rId55"/>
    <p:sldId id="324" r:id="rId56"/>
    <p:sldId id="326" r:id="rId57"/>
    <p:sldId id="327" r:id="rId58"/>
    <p:sldId id="328" r:id="rId59"/>
    <p:sldId id="355" r:id="rId60"/>
    <p:sldId id="356" r:id="rId61"/>
    <p:sldId id="357" r:id="rId62"/>
    <p:sldId id="329" r:id="rId63"/>
    <p:sldId id="330" r:id="rId64"/>
    <p:sldId id="331" r:id="rId65"/>
    <p:sldId id="333" r:id="rId66"/>
    <p:sldId id="334" r:id="rId67"/>
    <p:sldId id="335" r:id="rId68"/>
    <p:sldId id="336" r:id="rId69"/>
    <p:sldId id="337" r:id="rId70"/>
    <p:sldId id="338" r:id="rId71"/>
    <p:sldId id="339" r:id="rId72"/>
    <p:sldId id="340" r:id="rId73"/>
    <p:sldId id="341" r:id="rId74"/>
    <p:sldId id="342" r:id="rId75"/>
    <p:sldId id="343" r:id="rId76"/>
    <p:sldId id="344" r:id="rId77"/>
    <p:sldId id="345" r:id="rId78"/>
    <p:sldId id="346" r:id="rId79"/>
    <p:sldId id="347" r:id="rId80"/>
    <p:sldId id="348" r:id="rId81"/>
    <p:sldId id="349" r:id="rId82"/>
    <p:sldId id="350" r:id="rId83"/>
    <p:sldId id="351" r:id="rId84"/>
    <p:sldId id="352" r:id="rId85"/>
    <p:sldId id="353" r:id="rId86"/>
    <p:sldId id="372" r:id="rId87"/>
    <p:sldId id="363" r:id="rId88"/>
    <p:sldId id="364" r:id="rId89"/>
    <p:sldId id="366" r:id="rId90"/>
    <p:sldId id="367" r:id="rId91"/>
    <p:sldId id="368" r:id="rId92"/>
    <p:sldId id="370" r:id="rId93"/>
    <p:sldId id="371" r:id="rId9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DAA9CAF-DE09-4439-A43F-BF1E22E45CE9}" type="datetimeFigureOut">
              <a:rPr lang="en-US" smtClean="0"/>
              <a:pPr/>
              <a:t>1/30/2019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AA9CAF-DE09-4439-A43F-BF1E22E45CE9}" type="datetimeFigureOut">
              <a:rPr lang="en-US" smtClean="0"/>
              <a:pPr/>
              <a:t>1/30/2019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DAA9CAF-DE09-4439-A43F-BF1E22E45CE9}" type="datetimeFigureOut">
              <a:rPr lang="en-US" smtClean="0"/>
              <a:pPr/>
              <a:t>1/30/2019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DAA9CAF-DE09-4439-A43F-BF1E22E45CE9}" type="datetimeFigureOut">
              <a:rPr lang="en-US" smtClean="0"/>
              <a:pPr/>
              <a:t>1/30/2019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DAA9CAF-DE09-4439-A43F-BF1E22E45CE9}" type="datetimeFigureOut">
              <a:rPr lang="en-US" smtClean="0"/>
              <a:pPr/>
              <a:t>1/30/2019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AA9CAF-DE09-4439-A43F-BF1E22E45CE9}" type="datetimeFigureOut">
              <a:rPr lang="en-US" smtClean="0"/>
              <a:pPr/>
              <a:t>1/30/2019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AA9CAF-DE09-4439-A43F-BF1E22E45CE9}" type="datetimeFigureOut">
              <a:rPr lang="en-US" smtClean="0"/>
              <a:pPr/>
              <a:t>1/30/2019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DAA9CAF-DE09-4439-A43F-BF1E22E45CE9}" type="datetimeFigureOut">
              <a:rPr lang="en-US" smtClean="0"/>
              <a:pPr/>
              <a:t>1/30/2019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DAA9CAF-DE09-4439-A43F-BF1E22E45CE9}" type="datetimeFigureOut">
              <a:rPr lang="en-US" smtClean="0"/>
              <a:pPr/>
              <a:t>1/30/2019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AA9CAF-DE09-4439-A43F-BF1E22E45CE9}" type="datetimeFigureOut">
              <a:rPr lang="en-US" smtClean="0"/>
              <a:pPr/>
              <a:t>1/30/2019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DAA9CAF-DE09-4439-A43F-BF1E22E45CE9}" type="datetimeFigureOut">
              <a:rPr lang="en-US" smtClean="0"/>
              <a:pPr/>
              <a:t>1/30/2019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FD6424-5468-40D4-9C33-470A9DD8A2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AA9CAF-DE09-4439-A43F-BF1E22E45CE9}" type="datetimeFigureOut">
              <a:rPr lang="en-US" smtClean="0"/>
              <a:pPr/>
              <a:t>1/30/2019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FD6424-5468-40D4-9C33-470A9DD8A2B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533400"/>
          </a:xfrm>
        </p:spPr>
        <p:txBody>
          <a:bodyPr>
            <a:normAutofit fontScale="90000"/>
          </a:bodyPr>
          <a:lstStyle/>
          <a:p>
            <a:r>
              <a:rPr lang="en-US" dirty="0" smtClean="0"/>
              <a:t>Module2</a:t>
            </a:r>
            <a:endParaRPr lang="en-US" dirty="0"/>
          </a:p>
        </p:txBody>
      </p:sp>
      <p:sp>
        <p:nvSpPr>
          <p:cNvPr id="3" name="Subtitle 2"/>
          <p:cNvSpPr>
            <a:spLocks noGrp="1"/>
          </p:cNvSpPr>
          <p:nvPr>
            <p:ph type="subTitle" idx="1"/>
          </p:nvPr>
        </p:nvSpPr>
        <p:spPr>
          <a:xfrm>
            <a:off x="457200" y="1295400"/>
            <a:ext cx="8229600" cy="5181600"/>
          </a:xfrm>
        </p:spPr>
        <p:txBody>
          <a:bodyPr/>
          <a:lstStyle/>
          <a:p>
            <a:r>
              <a:rPr lang="en-US" dirty="0" smtClean="0"/>
              <a:t>                                       Text Book </a:t>
            </a:r>
            <a:endParaRPr lang="en-US" dirty="0"/>
          </a:p>
        </p:txBody>
      </p:sp>
      <p:pic>
        <p:nvPicPr>
          <p:cNvPr id="1026" name="Picture 2"/>
          <p:cNvPicPr>
            <a:picLocks noChangeAspect="1" noChangeArrowheads="1"/>
          </p:cNvPicPr>
          <p:nvPr/>
        </p:nvPicPr>
        <p:blipFill>
          <a:blip r:embed="rId2"/>
          <a:srcRect/>
          <a:stretch>
            <a:fillRect/>
          </a:stretch>
        </p:blipFill>
        <p:spPr bwMode="auto">
          <a:xfrm>
            <a:off x="1219200" y="1524000"/>
            <a:ext cx="3171825" cy="47529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Installing GIT</a:t>
            </a:r>
            <a:endParaRPr lang="en-US" dirty="0"/>
          </a:p>
        </p:txBody>
      </p:sp>
      <p:sp>
        <p:nvSpPr>
          <p:cNvPr id="3" name="Content Placeholder 2"/>
          <p:cNvSpPr>
            <a:spLocks noGrp="1"/>
          </p:cNvSpPr>
          <p:nvPr>
            <p:ph idx="1"/>
          </p:nvPr>
        </p:nvSpPr>
        <p:spPr/>
        <p:txBody>
          <a:bodyPr>
            <a:normAutofit fontScale="92500"/>
          </a:bodyPr>
          <a:lstStyle/>
          <a:p>
            <a:r>
              <a:rPr lang="en-US" dirty="0" smtClean="0"/>
              <a:t>For </a:t>
            </a:r>
            <a:r>
              <a:rPr lang="en-US" dirty="0" err="1" smtClean="0"/>
              <a:t>Ubuntu</a:t>
            </a:r>
            <a:r>
              <a:rPr lang="en-US" dirty="0" smtClean="0"/>
              <a:t> </a:t>
            </a:r>
            <a:r>
              <a:rPr lang="en-US" dirty="0"/>
              <a:t>provides </a:t>
            </a:r>
            <a:r>
              <a:rPr lang="en-US" dirty="0" err="1"/>
              <a:t>Git</a:t>
            </a:r>
            <a:r>
              <a:rPr lang="en-US" dirty="0"/>
              <a:t> via </a:t>
            </a:r>
            <a:r>
              <a:rPr lang="en-US" dirty="0" smtClean="0"/>
              <a:t>its apt-get tool</a:t>
            </a:r>
            <a:r>
              <a:rPr lang="en-US" dirty="0"/>
              <a:t>, so </a:t>
            </a:r>
            <a:r>
              <a:rPr lang="en-US" dirty="0" smtClean="0"/>
              <a:t>a few commands from the terminal </a:t>
            </a:r>
            <a:r>
              <a:rPr lang="en-US" dirty="0"/>
              <a:t>are enough to get you going. </a:t>
            </a:r>
            <a:endParaRPr lang="en-US" dirty="0" smtClean="0"/>
          </a:p>
          <a:p>
            <a:r>
              <a:rPr lang="en-US" dirty="0" smtClean="0"/>
              <a:t>Download the </a:t>
            </a:r>
            <a:r>
              <a:rPr lang="en-US" dirty="0"/>
              <a:t>latest </a:t>
            </a:r>
            <a:r>
              <a:rPr lang="en-US" dirty="0" err="1"/>
              <a:t>tarball</a:t>
            </a:r>
            <a:r>
              <a:rPr lang="en-US" dirty="0"/>
              <a:t> from the </a:t>
            </a:r>
            <a:r>
              <a:rPr lang="en-US" dirty="0" err="1"/>
              <a:t>Git</a:t>
            </a:r>
            <a:r>
              <a:rPr lang="en-US" dirty="0"/>
              <a:t> website.</a:t>
            </a:r>
          </a:p>
          <a:p>
            <a:r>
              <a:rPr lang="en-US" dirty="0" smtClean="0"/>
              <a:t>Prompt&gt;tar –</a:t>
            </a:r>
            <a:r>
              <a:rPr lang="en-US" dirty="0" err="1" smtClean="0"/>
              <a:t>xjf</a:t>
            </a:r>
            <a:r>
              <a:rPr lang="en-US" dirty="0" smtClean="0"/>
              <a:t> git-YOUR-VERSION.tar.bz2</a:t>
            </a:r>
            <a:endParaRPr lang="en-US" dirty="0"/>
          </a:p>
          <a:p>
            <a:r>
              <a:rPr lang="en-US" dirty="0"/>
              <a:t>prompt</a:t>
            </a:r>
            <a:r>
              <a:rPr lang="en-US" dirty="0" smtClean="0"/>
              <a:t>&gt; </a:t>
            </a:r>
            <a:r>
              <a:rPr lang="en-US" dirty="0" err="1" smtClean="0"/>
              <a:t>cd</a:t>
            </a:r>
            <a:r>
              <a:rPr lang="en-US" dirty="0" smtClean="0"/>
              <a:t> </a:t>
            </a:r>
            <a:r>
              <a:rPr lang="en-US" dirty="0" err="1"/>
              <a:t>git</a:t>
            </a:r>
            <a:r>
              <a:rPr lang="en-US" dirty="0"/>
              <a:t>-YOUR-VERSION</a:t>
            </a:r>
          </a:p>
          <a:p>
            <a:r>
              <a:rPr lang="en-US" dirty="0"/>
              <a:t>prompt</a:t>
            </a:r>
            <a:r>
              <a:rPr lang="en-US" dirty="0" smtClean="0"/>
              <a:t>&gt; make</a:t>
            </a:r>
            <a:endParaRPr lang="en-US" dirty="0"/>
          </a:p>
          <a:p>
            <a:r>
              <a:rPr lang="en-US" dirty="0" smtClean="0"/>
              <a:t>Prompt&gt;make install</a:t>
            </a:r>
            <a:endParaRPr lang="en-US" dirty="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Configuring GIT</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1182281" y="1219199"/>
            <a:ext cx="6971119" cy="543747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 Repository in </a:t>
            </a:r>
            <a:r>
              <a:rPr lang="en-US" dirty="0" err="1" smtClean="0"/>
              <a:t>Git</a:t>
            </a:r>
            <a:endParaRPr lang="en-US" dirty="0"/>
          </a:p>
        </p:txBody>
      </p:sp>
      <p:sp>
        <p:nvSpPr>
          <p:cNvPr id="3" name="Content Placeholder 2"/>
          <p:cNvSpPr>
            <a:spLocks noGrp="1"/>
          </p:cNvSpPr>
          <p:nvPr>
            <p:ph idx="1"/>
          </p:nvPr>
        </p:nvSpPr>
        <p:spPr/>
        <p:txBody>
          <a:bodyPr>
            <a:normAutofit lnSpcReduction="10000"/>
          </a:bodyPr>
          <a:lstStyle/>
          <a:p>
            <a:r>
              <a:rPr lang="en-US" dirty="0" smtClean="0"/>
              <a:t>Repositories in </a:t>
            </a:r>
            <a:r>
              <a:rPr lang="en-US" dirty="0" err="1"/>
              <a:t>Git</a:t>
            </a:r>
            <a:r>
              <a:rPr lang="en-US" dirty="0"/>
              <a:t> are stored on your local file system right </a:t>
            </a:r>
            <a:r>
              <a:rPr lang="en-US" dirty="0" smtClean="0"/>
              <a:t>along side the  code </a:t>
            </a:r>
            <a:r>
              <a:rPr lang="en-US" dirty="0"/>
              <a:t>they track. </a:t>
            </a:r>
            <a:endParaRPr lang="en-US" dirty="0" smtClean="0"/>
          </a:p>
          <a:p>
            <a:r>
              <a:rPr lang="en-US" dirty="0" smtClean="0"/>
              <a:t>Y </a:t>
            </a:r>
            <a:r>
              <a:rPr lang="en-US" dirty="0"/>
              <a:t>o u create </a:t>
            </a:r>
            <a:r>
              <a:rPr lang="en-US" dirty="0" smtClean="0"/>
              <a:t>a repository</a:t>
            </a:r>
            <a:endParaRPr lang="en-US" dirty="0"/>
          </a:p>
          <a:p>
            <a:r>
              <a:rPr lang="en-US" dirty="0"/>
              <a:t>by </a:t>
            </a:r>
            <a:r>
              <a:rPr lang="en-US" dirty="0" smtClean="0"/>
              <a:t>typing </a:t>
            </a:r>
            <a:r>
              <a:rPr lang="en-US" b="1" dirty="0" err="1" smtClean="0"/>
              <a:t>git</a:t>
            </a:r>
            <a:r>
              <a:rPr lang="en-US" b="1" dirty="0" smtClean="0"/>
              <a:t> init</a:t>
            </a:r>
            <a:r>
              <a:rPr lang="en-US" dirty="0" smtClean="0"/>
              <a:t> in </a:t>
            </a:r>
            <a:r>
              <a:rPr lang="en-US" dirty="0"/>
              <a:t>the directory </a:t>
            </a:r>
            <a:r>
              <a:rPr lang="en-US" dirty="0" smtClean="0"/>
              <a:t>that you </a:t>
            </a:r>
            <a:r>
              <a:rPr lang="en-US" dirty="0"/>
              <a:t>want to start tracking files in.</a:t>
            </a:r>
          </a:p>
          <a:p>
            <a:r>
              <a:rPr lang="en-US" dirty="0"/>
              <a:t>Y o u use two </a:t>
            </a:r>
            <a:r>
              <a:rPr lang="en-US" dirty="0" smtClean="0"/>
              <a:t>repositories in </a:t>
            </a:r>
            <a:r>
              <a:rPr lang="en-US" dirty="0" err="1"/>
              <a:t>Git</a:t>
            </a:r>
            <a:r>
              <a:rPr lang="en-US" dirty="0"/>
              <a:t> to collaborate</a:t>
            </a:r>
          </a:p>
          <a:p>
            <a:r>
              <a:rPr lang="en-US" dirty="0" smtClean="0"/>
              <a:t>with </a:t>
            </a:r>
            <a:r>
              <a:rPr lang="en-US" dirty="0"/>
              <a:t>others: </a:t>
            </a:r>
            <a:r>
              <a:rPr lang="en-US" dirty="0" smtClean="0"/>
              <a:t>a private </a:t>
            </a:r>
            <a:r>
              <a:rPr lang="en-US" dirty="0"/>
              <a:t>one and </a:t>
            </a:r>
            <a:r>
              <a:rPr lang="en-US" dirty="0" smtClean="0"/>
              <a:t>a public </a:t>
            </a:r>
            <a:r>
              <a:rPr lang="en-US" dirty="0"/>
              <a:t>one. Y o u r private </a:t>
            </a:r>
            <a:r>
              <a:rPr lang="en-US" dirty="0" smtClean="0"/>
              <a:t>repository—the one </a:t>
            </a:r>
            <a:r>
              <a:rPr lang="en-US" dirty="0"/>
              <a:t>we’re creating here—is </a:t>
            </a:r>
            <a:r>
              <a:rPr lang="en-US" dirty="0" smtClean="0"/>
              <a:t>where you </a:t>
            </a:r>
            <a:r>
              <a:rPr lang="en-US" dirty="0"/>
              <a:t>do all </a:t>
            </a:r>
            <a:r>
              <a:rPr lang="en-US" dirty="0" smtClean="0"/>
              <a:t>your work</a:t>
            </a:r>
            <a:endParaRPr lang="en-US" dirty="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76400"/>
            <a:ext cx="8229600" cy="4525963"/>
          </a:xfrm>
        </p:spPr>
        <p:txBody>
          <a:bodyPr>
            <a:normAutofit/>
          </a:bodyPr>
          <a:lstStyle/>
          <a:p>
            <a:r>
              <a:rPr lang="en-US" dirty="0" err="1"/>
              <a:t>git</a:t>
            </a:r>
            <a:r>
              <a:rPr lang="en-US" dirty="0"/>
              <a:t> </a:t>
            </a:r>
            <a:r>
              <a:rPr lang="en-US" dirty="0" smtClean="0"/>
              <a:t>init creates a .</a:t>
            </a:r>
            <a:r>
              <a:rPr lang="en-US" dirty="0" err="1" smtClean="0"/>
              <a:t>git</a:t>
            </a:r>
            <a:r>
              <a:rPr lang="en-US" dirty="0" smtClean="0"/>
              <a:t> directory </a:t>
            </a:r>
            <a:r>
              <a:rPr lang="en-US" dirty="0"/>
              <a:t>in your current directory and </a:t>
            </a:r>
            <a:r>
              <a:rPr lang="en-US" dirty="0" smtClean="0"/>
              <a:t>initializes the </a:t>
            </a:r>
            <a:r>
              <a:rPr lang="en-US" dirty="0" err="1" smtClean="0"/>
              <a:t>Git</a:t>
            </a:r>
            <a:r>
              <a:rPr lang="en-US" dirty="0" smtClean="0"/>
              <a:t> repository inside </a:t>
            </a:r>
            <a:r>
              <a:rPr lang="en-US" dirty="0"/>
              <a:t>that</a:t>
            </a:r>
            <a:r>
              <a:rPr lang="en-US" dirty="0" smtClean="0"/>
              <a:t>.</a:t>
            </a:r>
          </a:p>
          <a:p>
            <a:r>
              <a:rPr lang="en-US" dirty="0" smtClean="0"/>
              <a:t> </a:t>
            </a:r>
            <a:r>
              <a:rPr lang="en-US" dirty="0"/>
              <a:t>Once you’ve </a:t>
            </a:r>
            <a:r>
              <a:rPr lang="en-US" dirty="0" smtClean="0"/>
              <a:t>initialized a </a:t>
            </a:r>
            <a:r>
              <a:rPr lang="en-US" dirty="0" err="1" smtClean="0"/>
              <a:t>repository,you</a:t>
            </a:r>
            <a:r>
              <a:rPr lang="en-US" dirty="0" smtClean="0"/>
              <a:t> </a:t>
            </a:r>
            <a:r>
              <a:rPr lang="en-US" dirty="0"/>
              <a:t>still need </a:t>
            </a:r>
            <a:r>
              <a:rPr lang="en-US" dirty="0" smtClean="0"/>
              <a:t>to add </a:t>
            </a:r>
            <a:r>
              <a:rPr lang="en-US" dirty="0"/>
              <a:t>and commit the files </a:t>
            </a:r>
            <a:r>
              <a:rPr lang="en-US" dirty="0" smtClean="0"/>
              <a:t>using </a:t>
            </a:r>
            <a:r>
              <a:rPr lang="en-US" dirty="0" err="1" smtClean="0"/>
              <a:t>git</a:t>
            </a:r>
            <a:r>
              <a:rPr lang="en-US" dirty="0" smtClean="0"/>
              <a:t> add </a:t>
            </a:r>
            <a:endParaRPr lang="en-US" dirty="0"/>
          </a:p>
          <a:p>
            <a:r>
              <a:rPr lang="en-US" dirty="0" smtClean="0"/>
              <a:t>And </a:t>
            </a:r>
            <a:r>
              <a:rPr lang="en-US" dirty="0" err="1" smtClean="0"/>
              <a:t>git</a:t>
            </a:r>
            <a:r>
              <a:rPr lang="en-US" dirty="0" smtClean="0"/>
              <a:t> </a:t>
            </a:r>
            <a:r>
              <a:rPr lang="en-US" dirty="0"/>
              <a:t>commit</a:t>
            </a:r>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an empty </a:t>
            </a:r>
            <a:r>
              <a:rPr lang="en-US" dirty="0" err="1" smtClean="0"/>
              <a:t>Git</a:t>
            </a:r>
            <a:r>
              <a:rPr lang="en-US" dirty="0" smtClean="0"/>
              <a:t> Repository</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52400" y="2209800"/>
            <a:ext cx="8503647" cy="3505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Shared repositories should always be created with the --bare flag (see discussion below). Conventionally, repositories initialized with the --bare flag end in .</a:t>
            </a:r>
            <a:r>
              <a:rPr lang="en-US" dirty="0" err="1" smtClean="0"/>
              <a:t>git</a:t>
            </a:r>
            <a:r>
              <a:rPr lang="en-US" dirty="0" smtClean="0"/>
              <a:t>. </a:t>
            </a:r>
          </a:p>
          <a:p>
            <a:r>
              <a:rPr lang="en-US" dirty="0" smtClean="0"/>
              <a:t>For example, the bare version of a repository called my-project should be stored in a directory called my-project.git.</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381000" y="1600200"/>
            <a:ext cx="8305800" cy="4876800"/>
          </a:xfrm>
        </p:spPr>
        <p:txBody>
          <a:bodyPr>
            <a:normAutofit fontScale="92500" lnSpcReduction="20000"/>
          </a:bodyPr>
          <a:lstStyle/>
          <a:p>
            <a:r>
              <a:rPr lang="en-US" dirty="0" smtClean="0"/>
              <a:t>The --bare flag creates a repository that doesn’t have a working directory, making it impossible to edit files and commit changes in that repository. Central repositories should always be created as bare repositories because pushing branches to a non-bare repository has the potential to overwrite changes. </a:t>
            </a:r>
          </a:p>
          <a:p>
            <a:r>
              <a:rPr lang="en-US" dirty="0" smtClean="0"/>
              <a:t>Think of --bare as a way to mark a repository as a storage facility, opposed to a development environment. This means that for virtually all </a:t>
            </a:r>
            <a:r>
              <a:rPr lang="en-US" dirty="0" err="1" smtClean="0"/>
              <a:t>Git</a:t>
            </a:r>
            <a:r>
              <a:rPr lang="en-US" dirty="0" smtClean="0"/>
              <a:t> workflows, the central repository is bare, and developers local repositories are non-bare.</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4818" name="Picture 2"/>
          <p:cNvPicPr>
            <a:picLocks noGrp="1" noChangeAspect="1" noChangeArrowheads="1"/>
          </p:cNvPicPr>
          <p:nvPr>
            <p:ph idx="1"/>
          </p:nvPr>
        </p:nvPicPr>
        <p:blipFill>
          <a:blip r:embed="rId2"/>
          <a:srcRect/>
          <a:stretch>
            <a:fillRect/>
          </a:stretch>
        </p:blipFill>
        <p:spPr bwMode="auto">
          <a:xfrm>
            <a:off x="1143000" y="1524000"/>
            <a:ext cx="7057164" cy="503703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files to the repository</a:t>
            </a:r>
            <a:endParaRPr lang="en-US" dirty="0"/>
          </a:p>
        </p:txBody>
      </p:sp>
      <p:pic>
        <p:nvPicPr>
          <p:cNvPr id="4098" name="Picture 2"/>
          <p:cNvPicPr>
            <a:picLocks noGrp="1" noChangeAspect="1" noChangeArrowheads="1"/>
          </p:cNvPicPr>
          <p:nvPr>
            <p:ph idx="1"/>
          </p:nvPr>
        </p:nvPicPr>
        <p:blipFill>
          <a:blip r:embed="rId2"/>
          <a:srcRect/>
          <a:stretch>
            <a:fillRect/>
          </a:stretch>
        </p:blipFill>
        <p:spPr bwMode="auto">
          <a:xfrm>
            <a:off x="914400" y="1441648"/>
            <a:ext cx="7260348" cy="480675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Creating a local copy of an existing Repository</a:t>
            </a:r>
            <a:r>
              <a:rPr lang="en-US" dirty="0"/>
              <a:t/>
            </a:r>
            <a:br>
              <a:rPr lang="en-US" dirty="0"/>
            </a:b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175532" y="2133600"/>
            <a:ext cx="8587468" cy="198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304800" y="1752600"/>
            <a:ext cx="8652329" cy="144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gitclone</a:t>
            </a:r>
            <a:endParaRPr lang="en-US" dirty="0"/>
          </a:p>
        </p:txBody>
      </p:sp>
      <p:sp>
        <p:nvSpPr>
          <p:cNvPr id="3" name="Content Placeholder 2"/>
          <p:cNvSpPr>
            <a:spLocks noGrp="1"/>
          </p:cNvSpPr>
          <p:nvPr>
            <p:ph idx="1"/>
          </p:nvPr>
        </p:nvSpPr>
        <p:spPr/>
        <p:txBody>
          <a:bodyPr/>
          <a:lstStyle/>
          <a:p>
            <a:endParaRPr lang="en-US" dirty="0"/>
          </a:p>
        </p:txBody>
      </p:sp>
      <p:sp>
        <p:nvSpPr>
          <p:cNvPr id="4" name="Rectangle 3"/>
          <p:cNvSpPr/>
          <p:nvPr/>
        </p:nvSpPr>
        <p:spPr>
          <a:xfrm>
            <a:off x="457200" y="1905000"/>
            <a:ext cx="8229600" cy="1569660"/>
          </a:xfrm>
          <a:prstGeom prst="rect">
            <a:avLst/>
          </a:prstGeom>
        </p:spPr>
        <p:txBody>
          <a:bodyPr wrap="square">
            <a:spAutoFit/>
          </a:bodyPr>
          <a:lstStyle/>
          <a:p>
            <a:r>
              <a:rPr lang="en-US" sz="2400" dirty="0" smtClean="0"/>
              <a:t>The </a:t>
            </a:r>
            <a:r>
              <a:rPr lang="en-US" sz="2400" b="1" dirty="0" err="1" smtClean="0"/>
              <a:t>git</a:t>
            </a:r>
            <a:r>
              <a:rPr lang="en-US" sz="2400" b="1" dirty="0" smtClean="0"/>
              <a:t> clone</a:t>
            </a:r>
            <a:r>
              <a:rPr lang="en-US" sz="2400" dirty="0" smtClean="0"/>
              <a:t> command copies an existing </a:t>
            </a:r>
            <a:r>
              <a:rPr lang="en-US" sz="2400" b="1" dirty="0" err="1" smtClean="0"/>
              <a:t>Git</a:t>
            </a:r>
            <a:r>
              <a:rPr lang="en-US" sz="2400" dirty="0" smtClean="0"/>
              <a:t> repository. </a:t>
            </a:r>
          </a:p>
          <a:p>
            <a:r>
              <a:rPr lang="en-US" sz="2400" b="1" dirty="0" err="1" smtClean="0"/>
              <a:t>Git</a:t>
            </a:r>
            <a:r>
              <a:rPr lang="en-US" sz="2400" dirty="0" smtClean="0"/>
              <a:t> repository—it has its own history, manages its own files, and is a completely isolated environment from the original repository. </a:t>
            </a:r>
            <a:endParaRPr 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838200" y="1752600"/>
            <a:ext cx="7848600" cy="243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685800" y="2362200"/>
            <a:ext cx="7657013" cy="12390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Seeing what has changed</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Y o u r local repository tracks changes. Before you start committing</a:t>
            </a:r>
          </a:p>
          <a:p>
            <a:r>
              <a:rPr lang="en-US" dirty="0" smtClean="0"/>
              <a:t>Just anything, you need to see what changes exist between your working tree and your repository and what changes are staged and ready to commit.</a:t>
            </a:r>
          </a:p>
          <a:p>
            <a:r>
              <a:rPr lang="en-US" dirty="0" err="1" smtClean="0"/>
              <a:t>git</a:t>
            </a:r>
            <a:r>
              <a:rPr lang="en-US" dirty="0" smtClean="0"/>
              <a:t> status is the tool for the job. </a:t>
            </a:r>
            <a:r>
              <a:rPr lang="en-US" dirty="0" err="1" smtClean="0"/>
              <a:t>git</a:t>
            </a:r>
            <a:r>
              <a:rPr lang="en-US" dirty="0" smtClean="0"/>
              <a:t> status has several different outputs, depending on what’s in your working tree. The example on the next page is from one of my repositories, and it contains all three types of outputs: staged changes, changes to known files, and untracked</a:t>
            </a:r>
          </a:p>
          <a:p>
            <a:r>
              <a:rPr lang="en-US" dirty="0" smtClean="0"/>
              <a:t>files.</a:t>
            </a:r>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762000" y="1981200"/>
            <a:ext cx="8184991" cy="17914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Staging changes to commit</a:t>
            </a:r>
            <a:endParaRPr lang="en-US" dirty="0"/>
          </a:p>
        </p:txBody>
      </p:sp>
      <p:sp>
        <p:nvSpPr>
          <p:cNvPr id="3" name="Content Placeholder 2"/>
          <p:cNvSpPr>
            <a:spLocks noGrp="1"/>
          </p:cNvSpPr>
          <p:nvPr>
            <p:ph idx="1"/>
          </p:nvPr>
        </p:nvSpPr>
        <p:spPr/>
        <p:txBody>
          <a:bodyPr>
            <a:normAutofit fontScale="92500" lnSpcReduction="10000"/>
          </a:bodyPr>
          <a:lstStyle/>
          <a:p>
            <a:r>
              <a:rPr lang="en-US" dirty="0" err="1" smtClean="0"/>
              <a:t>Git</a:t>
            </a:r>
            <a:r>
              <a:rPr lang="en-US" dirty="0" smtClean="0"/>
              <a:t> uses a two-step process to get changes into the repository.</a:t>
            </a:r>
          </a:p>
          <a:p>
            <a:r>
              <a:rPr lang="en-US" dirty="0" smtClean="0"/>
              <a:t>The first step  is staging changes through </a:t>
            </a:r>
            <a:r>
              <a:rPr lang="en-US" dirty="0" err="1" smtClean="0"/>
              <a:t>git</a:t>
            </a:r>
            <a:r>
              <a:rPr lang="en-US" dirty="0" smtClean="0"/>
              <a:t> add Staging a change adds it to the Index ,or staging area. This sits between the working tree—your  view of the repository—and the actual repository.</a:t>
            </a:r>
          </a:p>
          <a:p>
            <a:r>
              <a:rPr lang="en-US" dirty="0" smtClean="0"/>
              <a:t>Through the staging area, you can control what is staged from the most coarse-grained—adding everything within the repository—down</a:t>
            </a:r>
          </a:p>
          <a:p>
            <a:r>
              <a:rPr lang="en-US" dirty="0" smtClean="0"/>
              <a:t>to editing the changes, line by line.</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Another quick way to add all files is </a:t>
            </a:r>
          </a:p>
          <a:p>
            <a:r>
              <a:rPr lang="en-US" dirty="0" err="1" smtClean="0"/>
              <a:t>git</a:t>
            </a:r>
            <a:r>
              <a:rPr lang="en-US" dirty="0" smtClean="0"/>
              <a:t> add –A</a:t>
            </a:r>
          </a:p>
          <a:p>
            <a:r>
              <a:rPr lang="en-US" dirty="0" smtClean="0"/>
              <a:t> you can add files that have changed using</a:t>
            </a:r>
          </a:p>
          <a:p>
            <a:r>
              <a:rPr lang="en-US" dirty="0" smtClean="0"/>
              <a:t>The –u parameter.</a:t>
            </a:r>
          </a:p>
          <a:p>
            <a:r>
              <a:rPr lang="en-US" dirty="0" smtClean="0"/>
              <a:t>It doesn’t add any new files, though, only files that have already been tracked</a:t>
            </a:r>
          </a:p>
          <a:p>
            <a:endParaRPr lang="en-US"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304800" y="2438400"/>
            <a:ext cx="8534796" cy="209153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Ignoring files</a:t>
            </a:r>
            <a:endParaRPr lang="en-US" dirty="0"/>
          </a:p>
        </p:txBody>
      </p:sp>
      <p:sp>
        <p:nvSpPr>
          <p:cNvPr id="3" name="Content Placeholder 2"/>
          <p:cNvSpPr>
            <a:spLocks noGrp="1"/>
          </p:cNvSpPr>
          <p:nvPr>
            <p:ph idx="1"/>
          </p:nvPr>
        </p:nvSpPr>
        <p:spPr/>
        <p:txBody>
          <a:bodyPr/>
          <a:lstStyle/>
          <a:p>
            <a:r>
              <a:rPr lang="en-US" dirty="0" smtClean="0"/>
              <a:t>If you don’t want to commit some of the  files , then you can make use of </a:t>
            </a:r>
            <a:r>
              <a:rPr lang="en-US" dirty="0" err="1" smtClean="0"/>
              <a:t>gitignore</a:t>
            </a:r>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685800" y="2286000"/>
            <a:ext cx="8458200" cy="212284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533400" y="2743200"/>
            <a:ext cx="7942724" cy="17756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239001" y="2514600"/>
            <a:ext cx="8904999" cy="13755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1600200" y="2133600"/>
            <a:ext cx="6347926" cy="25852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
            </a:r>
            <a:br>
              <a:rPr lang="en-US" dirty="0" smtClean="0"/>
            </a:br>
            <a:r>
              <a:rPr lang="en-US" dirty="0" smtClean="0"/>
              <a:t>   Undoing uncommitted changes</a:t>
            </a:r>
            <a:br>
              <a:rPr lang="en-US" dirty="0" smtClean="0"/>
            </a:b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0" y="1371600"/>
            <a:ext cx="9223635" cy="4191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154172" y="2362200"/>
            <a:ext cx="8989828" cy="144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179796" y="2438400"/>
            <a:ext cx="8964204" cy="2051844"/>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1219200" y="2438400"/>
            <a:ext cx="7220808" cy="1704181"/>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Moving files in </a:t>
            </a:r>
            <a:r>
              <a:rPr lang="en-US" dirty="0" err="1" smtClean="0"/>
              <a:t>Git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914400" y="1981200"/>
            <a:ext cx="7696200" cy="4038600"/>
          </a:xfrm>
          <a:prstGeom prst="rect">
            <a:avLst/>
          </a:prstGeom>
          <a:noFill/>
          <a:ln w="9525">
            <a:noFill/>
            <a:miter lim="800000"/>
            <a:headEnd/>
            <a:tailEnd/>
          </a:ln>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152400" y="1676400"/>
            <a:ext cx="8686800" cy="1295400"/>
          </a:xfrm>
          <a:prstGeom prst="rect">
            <a:avLst/>
          </a:prstGeom>
          <a:noFill/>
          <a:ln w="9525">
            <a:noFill/>
            <a:miter lim="800000"/>
            <a:headEnd/>
            <a:tailEnd/>
          </a:ln>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1066800" y="1981200"/>
            <a:ext cx="7478124" cy="2448719"/>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9" name="Picture 3"/>
          <p:cNvPicPr>
            <a:picLocks noGrp="1" noChangeAspect="1" noChangeArrowheads="1"/>
          </p:cNvPicPr>
          <p:nvPr>
            <p:ph idx="1"/>
          </p:nvPr>
        </p:nvPicPr>
        <p:blipFill>
          <a:blip r:embed="rId2"/>
          <a:srcRect/>
          <a:stretch>
            <a:fillRect/>
          </a:stretch>
        </p:blipFill>
        <p:spPr bwMode="auto">
          <a:xfrm>
            <a:off x="990600" y="2133600"/>
            <a:ext cx="7793467" cy="190500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Categorizing branches</a:t>
            </a:r>
            <a:endParaRPr lang="en-US" dirty="0"/>
          </a:p>
        </p:txBody>
      </p:sp>
      <p:pic>
        <p:nvPicPr>
          <p:cNvPr id="8194" name="Picture 2"/>
          <p:cNvPicPr>
            <a:picLocks noGrp="1" noChangeAspect="1" noChangeArrowheads="1"/>
          </p:cNvPicPr>
          <p:nvPr>
            <p:ph idx="1"/>
          </p:nvPr>
        </p:nvPicPr>
        <p:blipFill>
          <a:blip r:embed="rId2"/>
          <a:srcRect/>
          <a:stretch>
            <a:fillRect/>
          </a:stretch>
        </p:blipFill>
        <p:spPr bwMode="auto">
          <a:xfrm>
            <a:off x="838200" y="1981200"/>
            <a:ext cx="7993315" cy="180255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533400" y="2514600"/>
            <a:ext cx="7338797" cy="17724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a:srcRect/>
          <a:stretch>
            <a:fillRect/>
          </a:stretch>
        </p:blipFill>
        <p:spPr bwMode="auto">
          <a:xfrm>
            <a:off x="609600" y="2667000"/>
            <a:ext cx="8534400" cy="14196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3315" name="Picture 3"/>
          <p:cNvPicPr>
            <a:picLocks noGrp="1" noChangeAspect="1" noChangeArrowheads="1"/>
          </p:cNvPicPr>
          <p:nvPr>
            <p:ph idx="1"/>
          </p:nvPr>
        </p:nvPicPr>
        <p:blipFill>
          <a:blip r:embed="rId2"/>
          <a:srcRect/>
          <a:stretch>
            <a:fillRect/>
          </a:stretch>
        </p:blipFill>
        <p:spPr bwMode="auto">
          <a:xfrm>
            <a:off x="1219200" y="1881980"/>
            <a:ext cx="7162800" cy="444544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457200" y="1643855"/>
            <a:ext cx="7924800" cy="467363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branches</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28601" y="2438400"/>
            <a:ext cx="8686800" cy="149712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Moving to the branch</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0" y="2743200"/>
            <a:ext cx="9063769" cy="12898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Creating and moving to branch in one step with –b option</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0" y="2819400"/>
            <a:ext cx="8520882" cy="18184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914400" y="685799"/>
            <a:ext cx="7696200" cy="570940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Viewing branches</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609600" y="1295400"/>
            <a:ext cx="7848600" cy="534742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Merging commits between branches</a:t>
            </a:r>
            <a:endParaRPr lang="en-US" dirty="0"/>
          </a:p>
        </p:txBody>
      </p:sp>
      <p:pic>
        <p:nvPicPr>
          <p:cNvPr id="6146" name="Picture 2"/>
          <p:cNvPicPr>
            <a:picLocks noGrp="1" noChangeAspect="1" noChangeArrowheads="1"/>
          </p:cNvPicPr>
          <p:nvPr>
            <p:ph idx="1"/>
          </p:nvPr>
        </p:nvPicPr>
        <p:blipFill>
          <a:blip r:embed="rId2"/>
          <a:srcRect/>
          <a:stretch>
            <a:fillRect/>
          </a:stretch>
        </p:blipFill>
        <p:spPr bwMode="auto">
          <a:xfrm>
            <a:off x="451816" y="1524000"/>
            <a:ext cx="8404778" cy="3124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4338" name="Picture 2"/>
          <p:cNvPicPr>
            <a:picLocks noGrp="1" noChangeAspect="1" noChangeArrowheads="1"/>
          </p:cNvPicPr>
          <p:nvPr>
            <p:ph idx="1"/>
          </p:nvPr>
        </p:nvPicPr>
        <p:blipFill>
          <a:blip r:embed="rId2"/>
          <a:srcRect/>
          <a:stretch>
            <a:fillRect/>
          </a:stretch>
        </p:blipFill>
        <p:spPr bwMode="auto">
          <a:xfrm>
            <a:off x="838200" y="1066800"/>
            <a:ext cx="7674941" cy="527848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120029" y="2815430"/>
            <a:ext cx="8490571" cy="29757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42" name="Picture 2"/>
          <p:cNvPicPr>
            <a:picLocks noGrp="1" noChangeAspect="1" noChangeArrowheads="1"/>
          </p:cNvPicPr>
          <p:nvPr>
            <p:ph idx="1"/>
          </p:nvPr>
        </p:nvPicPr>
        <p:blipFill>
          <a:blip r:embed="rId2"/>
          <a:srcRect/>
          <a:stretch>
            <a:fillRect/>
          </a:stretch>
        </p:blipFill>
        <p:spPr bwMode="auto">
          <a:xfrm>
            <a:off x="990600" y="2020094"/>
            <a:ext cx="7315200" cy="41725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Deleting a branch</a:t>
            </a:r>
            <a:endParaRPr lang="en-US" dirty="0"/>
          </a:p>
        </p:txBody>
      </p:sp>
      <p:pic>
        <p:nvPicPr>
          <p:cNvPr id="11266" name="Picture 2"/>
          <p:cNvPicPr>
            <a:picLocks noGrp="1" noChangeAspect="1" noChangeArrowheads="1"/>
          </p:cNvPicPr>
          <p:nvPr>
            <p:ph idx="1"/>
          </p:nvPr>
        </p:nvPicPr>
        <p:blipFill>
          <a:blip r:embed="rId2"/>
          <a:srcRect/>
          <a:stretch>
            <a:fillRect/>
          </a:stretch>
        </p:blipFill>
        <p:spPr bwMode="auto">
          <a:xfrm>
            <a:off x="0" y="2743200"/>
            <a:ext cx="9321315" cy="14708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tags in </a:t>
            </a:r>
            <a:r>
              <a:rPr lang="en-US" dirty="0" err="1" smtClean="0"/>
              <a:t>Git</a:t>
            </a:r>
            <a:endParaRPr lang="en-US" dirty="0"/>
          </a:p>
        </p:txBody>
      </p:sp>
      <p:pic>
        <p:nvPicPr>
          <p:cNvPr id="12290" name="Picture 2"/>
          <p:cNvPicPr>
            <a:picLocks noGrp="1" noChangeAspect="1" noChangeArrowheads="1"/>
          </p:cNvPicPr>
          <p:nvPr>
            <p:ph idx="1"/>
          </p:nvPr>
        </p:nvPicPr>
        <p:blipFill>
          <a:blip r:embed="rId2"/>
          <a:srcRect/>
          <a:stretch>
            <a:fillRect/>
          </a:stretch>
        </p:blipFill>
        <p:spPr bwMode="auto">
          <a:xfrm>
            <a:off x="-152" y="2209800"/>
            <a:ext cx="9144152" cy="28328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Listing tags</a:t>
            </a:r>
            <a:endParaRPr lang="en-US" dirty="0"/>
          </a:p>
        </p:txBody>
      </p:sp>
      <p:pic>
        <p:nvPicPr>
          <p:cNvPr id="13314" name="Picture 2"/>
          <p:cNvPicPr>
            <a:picLocks noGrp="1" noChangeAspect="1" noChangeArrowheads="1"/>
          </p:cNvPicPr>
          <p:nvPr>
            <p:ph idx="1"/>
          </p:nvPr>
        </p:nvPicPr>
        <p:blipFill>
          <a:blip r:embed="rId2"/>
          <a:srcRect/>
          <a:stretch>
            <a:fillRect/>
          </a:stretch>
        </p:blipFill>
        <p:spPr bwMode="auto">
          <a:xfrm>
            <a:off x="0" y="2590800"/>
            <a:ext cx="9047320" cy="13708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remote repositories</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457200" y="1600200"/>
            <a:ext cx="8359587" cy="413119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1066800" y="1905000"/>
            <a:ext cx="7323138" cy="366156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Fetch</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163492" y="1905000"/>
            <a:ext cx="8980508" cy="33520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228600" y="2133600"/>
            <a:ext cx="8153399" cy="101362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Retrieving changes</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228600" y="2514600"/>
            <a:ext cx="8610600" cy="2819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1066800" y="2590800"/>
            <a:ext cx="7239513" cy="28852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Handling remote tags and branches</a:t>
            </a:r>
            <a:endParaRPr lang="en-US" dirty="0"/>
          </a:p>
        </p:txBody>
      </p:sp>
      <p:pic>
        <p:nvPicPr>
          <p:cNvPr id="8195" name="Picture 3"/>
          <p:cNvPicPr>
            <a:picLocks noGrp="1" noChangeAspect="1" noChangeArrowheads="1"/>
          </p:cNvPicPr>
          <p:nvPr>
            <p:ph idx="1"/>
          </p:nvPr>
        </p:nvPicPr>
        <p:blipFill>
          <a:blip r:embed="rId2"/>
          <a:srcRect/>
          <a:stretch>
            <a:fillRect/>
          </a:stretch>
        </p:blipFill>
        <p:spPr bwMode="auto">
          <a:xfrm>
            <a:off x="93721" y="2286000"/>
            <a:ext cx="8288279" cy="259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609600" y="1752600"/>
            <a:ext cx="8305800" cy="469122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conflicts in </a:t>
            </a:r>
            <a:r>
              <a:rPr lang="en-US" dirty="0" err="1" smtClean="0"/>
              <a:t>git</a:t>
            </a:r>
            <a:endParaRPr lang="en-US" dirty="0"/>
          </a:p>
        </p:txBody>
      </p:sp>
      <p:sp>
        <p:nvSpPr>
          <p:cNvPr id="3" name="Content Placeholder 2"/>
          <p:cNvSpPr>
            <a:spLocks noGrp="1"/>
          </p:cNvSpPr>
          <p:nvPr>
            <p:ph idx="1"/>
          </p:nvPr>
        </p:nvSpPr>
        <p:spPr/>
        <p:txBody>
          <a:bodyPr/>
          <a:lstStyle/>
          <a:p>
            <a:r>
              <a:rPr lang="en-US" dirty="0" err="1" smtClean="0"/>
              <a:t>Git</a:t>
            </a:r>
            <a:r>
              <a:rPr lang="en-US" dirty="0" smtClean="0"/>
              <a:t> was nice enough to mark the problematic area in the file by enclosing it in "&lt;&lt;&lt;&lt;&lt;&lt;&lt; HEAD" and "&gt;&gt;&gt;&gt;&gt;&gt;&gt; [other/branch/name]".</a:t>
            </a:r>
          </a:p>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0" y="2819400"/>
            <a:ext cx="9115231" cy="1447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contents after the first marker originate from your current working branch. After the angle brackets, </a:t>
            </a:r>
            <a:r>
              <a:rPr lang="en-US" dirty="0" err="1" smtClean="0"/>
              <a:t>Git</a:t>
            </a:r>
            <a:r>
              <a:rPr lang="en-US" dirty="0" smtClean="0"/>
              <a:t> tells us where (from which branch) the changes came from. A line with "=======" separates the two conflicting changes. </a:t>
            </a:r>
          </a:p>
          <a:p>
            <a:r>
              <a:rPr lang="en-US" dirty="0" smtClean="0"/>
              <a:t>Our job is now to clean up these lines</a:t>
            </a:r>
          </a:p>
          <a:p>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Resolving conflicts</a:t>
            </a:r>
            <a:endParaRPr lang="en-US" dirty="0"/>
          </a:p>
        </p:txBody>
      </p:sp>
      <p:pic>
        <p:nvPicPr>
          <p:cNvPr id="10242" name="Picture 2"/>
          <p:cNvPicPr>
            <a:picLocks noGrp="1" noChangeAspect="1" noChangeArrowheads="1"/>
          </p:cNvPicPr>
          <p:nvPr>
            <p:ph idx="1"/>
          </p:nvPr>
        </p:nvPicPr>
        <p:blipFill>
          <a:blip r:embed="rId2"/>
          <a:srcRect/>
          <a:stretch>
            <a:fillRect/>
          </a:stretch>
        </p:blipFill>
        <p:spPr bwMode="auto">
          <a:xfrm>
            <a:off x="762000" y="1877176"/>
            <a:ext cx="7162800" cy="424283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a:srcRect/>
          <a:stretch>
            <a:fillRect/>
          </a:stretch>
        </p:blipFill>
        <p:spPr bwMode="auto">
          <a:xfrm>
            <a:off x="1524000" y="2590800"/>
            <a:ext cx="6906328" cy="147558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a:srcRect/>
          <a:stretch>
            <a:fillRect/>
          </a:stretch>
        </p:blipFill>
        <p:spPr bwMode="auto">
          <a:xfrm>
            <a:off x="914400" y="2819400"/>
            <a:ext cx="6923871" cy="23185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conflicts with GUI</a:t>
            </a:r>
            <a:endParaRPr lang="en-US" dirty="0"/>
          </a:p>
        </p:txBody>
      </p:sp>
      <p:pic>
        <p:nvPicPr>
          <p:cNvPr id="14338" name="Picture 2"/>
          <p:cNvPicPr>
            <a:picLocks noGrp="1" noChangeAspect="1" noChangeArrowheads="1"/>
          </p:cNvPicPr>
          <p:nvPr>
            <p:ph idx="1"/>
          </p:nvPr>
        </p:nvPicPr>
        <p:blipFill>
          <a:blip r:embed="rId2"/>
          <a:srcRect/>
          <a:stretch>
            <a:fillRect/>
          </a:stretch>
        </p:blipFill>
        <p:spPr bwMode="auto">
          <a:xfrm>
            <a:off x="643360" y="2438400"/>
            <a:ext cx="7826895" cy="2895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5362" name="Picture 2"/>
          <p:cNvPicPr>
            <a:picLocks noGrp="1" noChangeAspect="1" noChangeArrowheads="1"/>
          </p:cNvPicPr>
          <p:nvPr>
            <p:ph idx="1"/>
          </p:nvPr>
        </p:nvPicPr>
        <p:blipFill>
          <a:blip r:embed="rId2"/>
          <a:srcRect/>
          <a:stretch>
            <a:fillRect/>
          </a:stretch>
        </p:blipFill>
        <p:spPr bwMode="auto">
          <a:xfrm>
            <a:off x="1219200" y="914400"/>
            <a:ext cx="7010400" cy="542604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Temporarily Hiding changes with </a:t>
            </a:r>
            <a:r>
              <a:rPr lang="en-US" dirty="0" err="1" smtClean="0"/>
              <a:t>git</a:t>
            </a:r>
            <a:r>
              <a:rPr lang="en-US" dirty="0" smtClean="0"/>
              <a:t> stash</a:t>
            </a:r>
            <a:endParaRPr lang="en-US" dirty="0"/>
          </a:p>
        </p:txBody>
      </p:sp>
      <p:pic>
        <p:nvPicPr>
          <p:cNvPr id="16386" name="Picture 2"/>
          <p:cNvPicPr>
            <a:picLocks noGrp="1" noChangeAspect="1" noChangeArrowheads="1"/>
          </p:cNvPicPr>
          <p:nvPr>
            <p:ph idx="1"/>
          </p:nvPr>
        </p:nvPicPr>
        <p:blipFill>
          <a:blip r:embed="rId2"/>
          <a:srcRect/>
          <a:stretch>
            <a:fillRect/>
          </a:stretch>
        </p:blipFill>
        <p:spPr bwMode="auto">
          <a:xfrm>
            <a:off x="304800" y="2362200"/>
            <a:ext cx="8068027" cy="211851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7410" name="Picture 2"/>
          <p:cNvPicPr>
            <a:picLocks noGrp="1" noChangeAspect="1" noChangeArrowheads="1"/>
          </p:cNvPicPr>
          <p:nvPr>
            <p:ph idx="1"/>
          </p:nvPr>
        </p:nvPicPr>
        <p:blipFill>
          <a:blip r:embed="rId2"/>
          <a:srcRect/>
          <a:stretch>
            <a:fillRect/>
          </a:stretch>
        </p:blipFill>
        <p:spPr bwMode="auto">
          <a:xfrm>
            <a:off x="781764" y="1600200"/>
            <a:ext cx="7913077"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Grp="1" noChangeAspect="1" noChangeArrowheads="1"/>
          </p:cNvPicPr>
          <p:nvPr>
            <p:ph idx="1"/>
          </p:nvPr>
        </p:nvPicPr>
        <p:blipFill>
          <a:blip r:embed="rId2"/>
          <a:srcRect/>
          <a:stretch>
            <a:fillRect/>
          </a:stretch>
        </p:blipFill>
        <p:spPr bwMode="auto">
          <a:xfrm>
            <a:off x="1143000" y="685800"/>
            <a:ext cx="7010400" cy="5715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cherry pick</a:t>
            </a:r>
            <a:endParaRPr lang="en-US" dirty="0"/>
          </a:p>
        </p:txBody>
      </p:sp>
      <p:pic>
        <p:nvPicPr>
          <p:cNvPr id="19458" name="Picture 2"/>
          <p:cNvPicPr>
            <a:picLocks noGrp="1" noChangeAspect="1" noChangeArrowheads="1"/>
          </p:cNvPicPr>
          <p:nvPr>
            <p:ph idx="1"/>
          </p:nvPr>
        </p:nvPicPr>
        <p:blipFill>
          <a:blip r:embed="rId2"/>
          <a:srcRect/>
          <a:stretch>
            <a:fillRect/>
          </a:stretch>
        </p:blipFill>
        <p:spPr bwMode="auto">
          <a:xfrm>
            <a:off x="211819" y="1903990"/>
            <a:ext cx="7941581" cy="434441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482" name="Picture 2"/>
          <p:cNvPicPr>
            <a:picLocks noGrp="1" noChangeAspect="1" noChangeArrowheads="1"/>
          </p:cNvPicPr>
          <p:nvPr>
            <p:ph idx="1"/>
          </p:nvPr>
        </p:nvPicPr>
        <p:blipFill>
          <a:blip r:embed="rId2"/>
          <a:srcRect/>
          <a:stretch>
            <a:fillRect/>
          </a:stretch>
        </p:blipFill>
        <p:spPr bwMode="auto">
          <a:xfrm>
            <a:off x="685800" y="304800"/>
            <a:ext cx="8077200" cy="6400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Controlling how to replay commits</a:t>
            </a:r>
            <a:endParaRPr lang="en-US" dirty="0"/>
          </a:p>
        </p:txBody>
      </p:sp>
      <p:pic>
        <p:nvPicPr>
          <p:cNvPr id="21506" name="Picture 2"/>
          <p:cNvPicPr>
            <a:picLocks noGrp="1" noChangeAspect="1" noChangeArrowheads="1"/>
          </p:cNvPicPr>
          <p:nvPr>
            <p:ph idx="1"/>
          </p:nvPr>
        </p:nvPicPr>
        <p:blipFill>
          <a:blip r:embed="rId2"/>
          <a:srcRect/>
          <a:stretch>
            <a:fillRect/>
          </a:stretch>
        </p:blipFill>
        <p:spPr bwMode="auto">
          <a:xfrm>
            <a:off x="856128" y="1524000"/>
            <a:ext cx="7608753" cy="4572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2530" name="Picture 2"/>
          <p:cNvPicPr>
            <a:picLocks noGrp="1" noChangeAspect="1" noChangeArrowheads="1"/>
          </p:cNvPicPr>
          <p:nvPr>
            <p:ph idx="1"/>
          </p:nvPr>
        </p:nvPicPr>
        <p:blipFill>
          <a:blip r:embed="rId2"/>
          <a:srcRect/>
          <a:stretch>
            <a:fillRect/>
          </a:stretch>
        </p:blipFill>
        <p:spPr bwMode="auto">
          <a:xfrm>
            <a:off x="609600" y="1828800"/>
            <a:ext cx="8165523" cy="3124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Moving branches</a:t>
            </a:r>
            <a:endParaRPr lang="en-US" dirty="0"/>
          </a:p>
        </p:txBody>
      </p:sp>
      <p:pic>
        <p:nvPicPr>
          <p:cNvPr id="23554" name="Picture 2"/>
          <p:cNvPicPr>
            <a:picLocks noGrp="1" noChangeAspect="1" noChangeArrowheads="1"/>
          </p:cNvPicPr>
          <p:nvPr>
            <p:ph idx="1"/>
          </p:nvPr>
        </p:nvPicPr>
        <p:blipFill>
          <a:blip r:embed="rId2"/>
          <a:srcRect/>
          <a:stretch>
            <a:fillRect/>
          </a:stretch>
        </p:blipFill>
        <p:spPr bwMode="auto">
          <a:xfrm>
            <a:off x="461512" y="1524000"/>
            <a:ext cx="8016844" cy="4800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4578" name="Picture 2"/>
          <p:cNvPicPr>
            <a:picLocks noGrp="1" noChangeAspect="1" noChangeArrowheads="1"/>
          </p:cNvPicPr>
          <p:nvPr>
            <p:ph idx="1"/>
          </p:nvPr>
        </p:nvPicPr>
        <p:blipFill>
          <a:blip r:embed="rId2"/>
          <a:srcRect/>
          <a:stretch>
            <a:fillRect/>
          </a:stretch>
        </p:blipFill>
        <p:spPr bwMode="auto">
          <a:xfrm>
            <a:off x="838200" y="381000"/>
            <a:ext cx="7772400" cy="624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5602" name="Picture 2"/>
          <p:cNvPicPr>
            <a:picLocks noGrp="1" noChangeAspect="1" noChangeArrowheads="1"/>
          </p:cNvPicPr>
          <p:nvPr>
            <p:ph idx="1"/>
          </p:nvPr>
        </p:nvPicPr>
        <p:blipFill>
          <a:blip r:embed="rId2"/>
          <a:srcRect/>
          <a:stretch>
            <a:fillRect/>
          </a:stretch>
        </p:blipFill>
        <p:spPr bwMode="auto">
          <a:xfrm>
            <a:off x="853132" y="2514600"/>
            <a:ext cx="6808527"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log with </a:t>
            </a:r>
            <a:r>
              <a:rPr lang="en-US" dirty="0" err="1" smtClean="0"/>
              <a:t>oneline</a:t>
            </a:r>
            <a:r>
              <a:rPr lang="en-US" dirty="0" smtClean="0"/>
              <a:t> option</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1066800" y="1905000"/>
            <a:ext cx="7391785" cy="26471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1447800" y="381000"/>
            <a:ext cx="6705600" cy="642730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options with </a:t>
            </a:r>
            <a:r>
              <a:rPr lang="en-US" dirty="0" err="1" smtClean="0"/>
              <a:t>Git</a:t>
            </a:r>
            <a:r>
              <a:rPr lang="en-US" dirty="0" smtClean="0"/>
              <a:t> log </a:t>
            </a:r>
            <a:endParaRPr lang="en-US" dirty="0"/>
          </a:p>
        </p:txBody>
      </p:sp>
      <p:pic>
        <p:nvPicPr>
          <p:cNvPr id="3074" name="Picture 2"/>
          <p:cNvPicPr>
            <a:picLocks noGrp="1" noChangeAspect="1" noChangeArrowheads="1"/>
          </p:cNvPicPr>
          <p:nvPr>
            <p:ph idx="1"/>
          </p:nvPr>
        </p:nvPicPr>
        <p:blipFill>
          <a:blip r:embed="rId2"/>
          <a:srcRect/>
          <a:stretch>
            <a:fillRect/>
          </a:stretch>
        </p:blipFill>
        <p:spPr bwMode="auto">
          <a:xfrm>
            <a:off x="457200" y="2286000"/>
            <a:ext cx="7883090" cy="2971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914400" y="381000"/>
            <a:ext cx="7848600" cy="613586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diff</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425919" y="2057400"/>
            <a:ext cx="8718081" cy="381000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304800" y="457200"/>
            <a:ext cx="8610600" cy="624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blame</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457200" y="1828800"/>
            <a:ext cx="8476271" cy="4038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762000" y="1639094"/>
            <a:ext cx="7391400" cy="480096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revert</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685800" y="1600200"/>
            <a:ext cx="8139330" cy="40385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457200" y="1905000"/>
            <a:ext cx="8432242"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Resetting staged changes and commits</a:t>
            </a:r>
            <a:endParaRPr lang="en-US" dirty="0"/>
          </a:p>
        </p:txBody>
      </p:sp>
      <p:pic>
        <p:nvPicPr>
          <p:cNvPr id="2050" name="Picture 2"/>
          <p:cNvPicPr>
            <a:picLocks noGrp="1" noChangeAspect="1" noChangeArrowheads="1"/>
          </p:cNvPicPr>
          <p:nvPr>
            <p:ph idx="1"/>
          </p:nvPr>
        </p:nvPicPr>
        <p:blipFill>
          <a:blip r:embed="rId2"/>
          <a:srcRect/>
          <a:stretch>
            <a:fillRect/>
          </a:stretch>
        </p:blipFill>
        <p:spPr bwMode="auto">
          <a:xfrm>
            <a:off x="0" y="2209800"/>
            <a:ext cx="8746227" cy="22090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838199" y="609600"/>
            <a:ext cx="7930811" cy="578550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Erasing commits</a:t>
            </a:r>
            <a:endParaRPr lang="en-US" dirty="0"/>
          </a:p>
        </p:txBody>
      </p:sp>
      <p:pic>
        <p:nvPicPr>
          <p:cNvPr id="5122" name="Picture 2"/>
          <p:cNvPicPr>
            <a:picLocks noGrp="1" noChangeAspect="1" noChangeArrowheads="1"/>
          </p:cNvPicPr>
          <p:nvPr>
            <p:ph idx="1"/>
          </p:nvPr>
        </p:nvPicPr>
        <p:blipFill>
          <a:blip r:embed="rId2"/>
          <a:srcRect/>
          <a:stretch>
            <a:fillRect/>
          </a:stretch>
        </p:blipFill>
        <p:spPr bwMode="auto">
          <a:xfrm>
            <a:off x="304800" y="914401"/>
            <a:ext cx="8839200" cy="5943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685800" y="2362200"/>
            <a:ext cx="7993552" cy="2438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bisect</a:t>
            </a:r>
            <a:endParaRPr lang="en-US" dirty="0"/>
          </a:p>
        </p:txBody>
      </p:sp>
      <p:pic>
        <p:nvPicPr>
          <p:cNvPr id="7170" name="Picture 2"/>
          <p:cNvPicPr>
            <a:picLocks noGrp="1" noChangeAspect="1" noChangeArrowheads="1"/>
          </p:cNvPicPr>
          <p:nvPr>
            <p:ph idx="1"/>
          </p:nvPr>
        </p:nvPicPr>
        <p:blipFill>
          <a:blip r:embed="rId2"/>
          <a:srcRect/>
          <a:stretch>
            <a:fillRect/>
          </a:stretch>
        </p:blipFill>
        <p:spPr bwMode="auto">
          <a:xfrm>
            <a:off x="609600" y="2514600"/>
            <a:ext cx="8156121" cy="299005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Retrieving lost commits with </a:t>
            </a:r>
            <a:r>
              <a:rPr lang="en-US" dirty="0" err="1" smtClean="0"/>
              <a:t>Git</a:t>
            </a:r>
            <a:r>
              <a:rPr lang="en-US" dirty="0" smtClean="0"/>
              <a:t> </a:t>
            </a:r>
            <a:r>
              <a:rPr lang="en-US" dirty="0" err="1" smtClean="0"/>
              <a:t>reflog</a:t>
            </a:r>
            <a:endParaRPr lang="en-US" dirty="0"/>
          </a:p>
        </p:txBody>
      </p:sp>
      <p:pic>
        <p:nvPicPr>
          <p:cNvPr id="9218" name="Picture 2"/>
          <p:cNvPicPr>
            <a:picLocks noGrp="1" noChangeAspect="1" noChangeArrowheads="1"/>
          </p:cNvPicPr>
          <p:nvPr>
            <p:ph idx="1"/>
          </p:nvPr>
        </p:nvPicPr>
        <p:blipFill>
          <a:blip r:embed="rId2"/>
          <a:srcRect/>
          <a:stretch>
            <a:fillRect/>
          </a:stretch>
        </p:blipFill>
        <p:spPr bwMode="auto">
          <a:xfrm>
            <a:off x="914400" y="1905000"/>
            <a:ext cx="7413126" cy="3657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609600" y="1828800"/>
            <a:ext cx="8305800" cy="3962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1894</TotalTime>
  <Words>789</Words>
  <Application>Microsoft Office PowerPoint</Application>
  <PresentationFormat>On-screen Show (4:3)</PresentationFormat>
  <Paragraphs>80</Paragraphs>
  <Slides>93</Slides>
  <Notes>0</Notes>
  <HiddenSlides>0</HiddenSlides>
  <MMClips>0</MMClip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Office Theme</vt:lpstr>
      <vt:lpstr>Module2</vt:lpstr>
      <vt:lpstr>Installing GIT</vt:lpstr>
      <vt:lpstr>Configuring GIT</vt:lpstr>
      <vt:lpstr>Creating a Repository in Git</vt:lpstr>
      <vt:lpstr>PowerPoint Presentation</vt:lpstr>
      <vt:lpstr>Creating an empty Git Repository</vt:lpstr>
      <vt:lpstr>PowerPoint Presentation</vt:lpstr>
      <vt:lpstr>PowerPoint Presentation</vt:lpstr>
      <vt:lpstr>PowerPoint Presentation</vt:lpstr>
      <vt:lpstr>Adding files to the repository</vt:lpstr>
      <vt:lpstr> Creating a local copy of an existing Repository </vt:lpstr>
      <vt:lpstr>PowerPoint Presentation</vt:lpstr>
      <vt:lpstr>gitclone</vt:lpstr>
      <vt:lpstr>PowerPoint Presentation</vt:lpstr>
      <vt:lpstr>PowerPoint Presentation</vt:lpstr>
      <vt:lpstr>Seeing what has changed</vt:lpstr>
      <vt:lpstr>PowerPoint Presentation</vt:lpstr>
      <vt:lpstr>Staging changes to commit</vt:lpstr>
      <vt:lpstr>PowerPoint Presentation</vt:lpstr>
      <vt:lpstr>PowerPoint Presentation</vt:lpstr>
      <vt:lpstr>Ignoring files</vt:lpstr>
      <vt:lpstr>PowerPoint Presentation</vt:lpstr>
      <vt:lpstr>PowerPoint Presentation</vt:lpstr>
      <vt:lpstr>PowerPoint Presentation</vt:lpstr>
      <vt:lpstr>PowerPoint Presentation</vt:lpstr>
      <vt:lpstr>    Undoing uncommitted changes </vt:lpstr>
      <vt:lpstr>PowerPoint Presentation</vt:lpstr>
      <vt:lpstr>PowerPoint Presentation</vt:lpstr>
      <vt:lpstr>PowerPoint Presentation</vt:lpstr>
      <vt:lpstr>Moving files in Git</vt:lpstr>
      <vt:lpstr>PowerPoint Presentation</vt:lpstr>
      <vt:lpstr>PowerPoint Presentation</vt:lpstr>
      <vt:lpstr>PowerPoint Presentation</vt:lpstr>
      <vt:lpstr>Categorizing branches</vt:lpstr>
      <vt:lpstr>PowerPoint Presentation</vt:lpstr>
      <vt:lpstr>PowerPoint Presentation</vt:lpstr>
      <vt:lpstr>PowerPoint Presentation</vt:lpstr>
      <vt:lpstr>PowerPoint Presentation</vt:lpstr>
      <vt:lpstr>Creating  branches</vt:lpstr>
      <vt:lpstr>Moving to the branch</vt:lpstr>
      <vt:lpstr>Creating and moving to branch in one step with –b option</vt:lpstr>
      <vt:lpstr>PowerPoint Presentation</vt:lpstr>
      <vt:lpstr>Viewing branches</vt:lpstr>
      <vt:lpstr>Merging commits between branches</vt:lpstr>
      <vt:lpstr>PowerPoint Presentation</vt:lpstr>
      <vt:lpstr>PowerPoint Presentation</vt:lpstr>
      <vt:lpstr>PowerPoint Presentation</vt:lpstr>
      <vt:lpstr>Deleting a branch</vt:lpstr>
      <vt:lpstr>Creating tags in Git</vt:lpstr>
      <vt:lpstr>Listing tags</vt:lpstr>
      <vt:lpstr>Creating remote repositories</vt:lpstr>
      <vt:lpstr>PowerPoint Presentation</vt:lpstr>
      <vt:lpstr>Git Fetch</vt:lpstr>
      <vt:lpstr>PowerPoint Presentation</vt:lpstr>
      <vt:lpstr>Retrieving changes</vt:lpstr>
      <vt:lpstr>PowerPoint Presentation</vt:lpstr>
      <vt:lpstr>Handling remote tags and branches</vt:lpstr>
      <vt:lpstr>PowerPoint Presentation</vt:lpstr>
      <vt:lpstr>Handling conflicts in git</vt:lpstr>
      <vt:lpstr>PowerPoint Presentation</vt:lpstr>
      <vt:lpstr>PowerPoint Presentation</vt:lpstr>
      <vt:lpstr>Resolving conflicts</vt:lpstr>
      <vt:lpstr>PowerPoint Presentation</vt:lpstr>
      <vt:lpstr>PowerPoint Presentation</vt:lpstr>
      <vt:lpstr>Handling conflicts with GUI</vt:lpstr>
      <vt:lpstr>PowerPoint Presentation</vt:lpstr>
      <vt:lpstr>Temporarily Hiding changes with git stash</vt:lpstr>
      <vt:lpstr>PowerPoint Presentation</vt:lpstr>
      <vt:lpstr>PowerPoint Presentation</vt:lpstr>
      <vt:lpstr>Git cherry pick</vt:lpstr>
      <vt:lpstr>PowerPoint Presentation</vt:lpstr>
      <vt:lpstr>Controlling how to replay commits</vt:lpstr>
      <vt:lpstr>PowerPoint Presentation</vt:lpstr>
      <vt:lpstr>Moving branches</vt:lpstr>
      <vt:lpstr>PowerPoint Presentation</vt:lpstr>
      <vt:lpstr>PowerPoint Presentation</vt:lpstr>
      <vt:lpstr>Git log with oneline option</vt:lpstr>
      <vt:lpstr>PowerPoint Presentation</vt:lpstr>
      <vt:lpstr>More options with Git log </vt:lpstr>
      <vt:lpstr>PowerPoint Presentation</vt:lpstr>
      <vt:lpstr>Git diff</vt:lpstr>
      <vt:lpstr>PowerPoint Presentation</vt:lpstr>
      <vt:lpstr>Git blame</vt:lpstr>
      <vt:lpstr>PowerPoint Presentation</vt:lpstr>
      <vt:lpstr>Git revert</vt:lpstr>
      <vt:lpstr>PowerPoint Presentation</vt:lpstr>
      <vt:lpstr>Resetting staged changes and commits</vt:lpstr>
      <vt:lpstr>PowerPoint Presentation</vt:lpstr>
      <vt:lpstr>Erasing commits</vt:lpstr>
      <vt:lpstr>PowerPoint Presentation</vt:lpstr>
      <vt:lpstr>Git bisect</vt:lpstr>
      <vt:lpstr>Retrieving lost commits with Git reflog</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Module2</dc:title>
  <dc:creator>HP</dc:creator>
  <cp:lastModifiedBy>Nisha</cp:lastModifiedBy>
  <cp:revision>113</cp:revision>
  <dcterms:created xsi:type="dcterms:W3CDTF">2017-01-18T13:04:28Z</dcterms:created>
  <dcterms:modified xsi:type="dcterms:W3CDTF">2019-01-30T10:29:54Z</dcterms:modified>
</cp:coreProperties>
</file>