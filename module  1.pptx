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06"/>
  </p:notesMasterIdLst>
  <p:sldIdLst>
    <p:sldId id="256" r:id="rId2"/>
    <p:sldId id="266" r:id="rId3"/>
    <p:sldId id="257" r:id="rId4"/>
    <p:sldId id="258" r:id="rId5"/>
    <p:sldId id="259" r:id="rId6"/>
    <p:sldId id="261" r:id="rId7"/>
    <p:sldId id="260" r:id="rId8"/>
    <p:sldId id="262" r:id="rId9"/>
    <p:sldId id="263" r:id="rId10"/>
    <p:sldId id="264" r:id="rId11"/>
    <p:sldId id="265" r:id="rId12"/>
    <p:sldId id="267" r:id="rId13"/>
    <p:sldId id="268" r:id="rId14"/>
    <p:sldId id="269" r:id="rId15"/>
    <p:sldId id="270" r:id="rId16"/>
    <p:sldId id="271" r:id="rId17"/>
    <p:sldId id="273" r:id="rId18"/>
    <p:sldId id="274" r:id="rId19"/>
    <p:sldId id="275" r:id="rId20"/>
    <p:sldId id="276" r:id="rId21"/>
    <p:sldId id="286" r:id="rId22"/>
    <p:sldId id="277" r:id="rId23"/>
    <p:sldId id="278" r:id="rId24"/>
    <p:sldId id="280" r:id="rId25"/>
    <p:sldId id="281" r:id="rId26"/>
    <p:sldId id="282" r:id="rId27"/>
    <p:sldId id="285" r:id="rId28"/>
    <p:sldId id="288" r:id="rId29"/>
    <p:sldId id="290" r:id="rId30"/>
    <p:sldId id="291" r:id="rId31"/>
    <p:sldId id="294" r:id="rId32"/>
    <p:sldId id="295" r:id="rId33"/>
    <p:sldId id="297" r:id="rId34"/>
    <p:sldId id="296" r:id="rId35"/>
    <p:sldId id="300" r:id="rId36"/>
    <p:sldId id="316" r:id="rId37"/>
    <p:sldId id="318" r:id="rId38"/>
    <p:sldId id="308" r:id="rId39"/>
    <p:sldId id="319" r:id="rId40"/>
    <p:sldId id="309" r:id="rId41"/>
    <p:sldId id="310" r:id="rId42"/>
    <p:sldId id="312" r:id="rId43"/>
    <p:sldId id="321" r:id="rId44"/>
    <p:sldId id="323" r:id="rId45"/>
    <p:sldId id="324" r:id="rId46"/>
    <p:sldId id="327" r:id="rId47"/>
    <p:sldId id="329" r:id="rId48"/>
    <p:sldId id="332" r:id="rId49"/>
    <p:sldId id="394" r:id="rId50"/>
    <p:sldId id="333" r:id="rId51"/>
    <p:sldId id="334" r:id="rId52"/>
    <p:sldId id="335" r:id="rId53"/>
    <p:sldId id="337" r:id="rId54"/>
    <p:sldId id="338" r:id="rId55"/>
    <p:sldId id="340" r:id="rId56"/>
    <p:sldId id="342" r:id="rId57"/>
    <p:sldId id="344" r:id="rId58"/>
    <p:sldId id="347" r:id="rId59"/>
    <p:sldId id="348" r:id="rId60"/>
    <p:sldId id="349" r:id="rId61"/>
    <p:sldId id="350" r:id="rId62"/>
    <p:sldId id="351" r:id="rId63"/>
    <p:sldId id="352" r:id="rId64"/>
    <p:sldId id="353" r:id="rId65"/>
    <p:sldId id="354" r:id="rId66"/>
    <p:sldId id="355" r:id="rId67"/>
    <p:sldId id="356" r:id="rId68"/>
    <p:sldId id="357" r:id="rId69"/>
    <p:sldId id="358" r:id="rId70"/>
    <p:sldId id="359" r:id="rId71"/>
    <p:sldId id="365" r:id="rId72"/>
    <p:sldId id="360" r:id="rId73"/>
    <p:sldId id="366" r:id="rId74"/>
    <p:sldId id="361" r:id="rId75"/>
    <p:sldId id="362" r:id="rId76"/>
    <p:sldId id="363" r:id="rId77"/>
    <p:sldId id="364" r:id="rId78"/>
    <p:sldId id="367" r:id="rId79"/>
    <p:sldId id="368" r:id="rId80"/>
    <p:sldId id="369" r:id="rId81"/>
    <p:sldId id="370" r:id="rId82"/>
    <p:sldId id="371" r:id="rId83"/>
    <p:sldId id="372" r:id="rId84"/>
    <p:sldId id="373" r:id="rId85"/>
    <p:sldId id="374" r:id="rId86"/>
    <p:sldId id="375" r:id="rId87"/>
    <p:sldId id="376" r:id="rId88"/>
    <p:sldId id="379" r:id="rId89"/>
    <p:sldId id="377" r:id="rId90"/>
    <p:sldId id="378" r:id="rId91"/>
    <p:sldId id="380" r:id="rId92"/>
    <p:sldId id="381" r:id="rId93"/>
    <p:sldId id="382" r:id="rId94"/>
    <p:sldId id="383" r:id="rId95"/>
    <p:sldId id="384" r:id="rId96"/>
    <p:sldId id="385" r:id="rId97"/>
    <p:sldId id="386" r:id="rId98"/>
    <p:sldId id="387" r:id="rId99"/>
    <p:sldId id="388" r:id="rId100"/>
    <p:sldId id="389" r:id="rId101"/>
    <p:sldId id="390" r:id="rId102"/>
    <p:sldId id="391" r:id="rId103"/>
    <p:sldId id="392" r:id="rId104"/>
    <p:sldId id="393" r:id="rId10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176" autoAdjust="0"/>
    <p:restoredTop sz="94660"/>
  </p:normalViewPr>
  <p:slideViewPr>
    <p:cSldViewPr snapToGrid="0">
      <p:cViewPr varScale="1">
        <p:scale>
          <a:sx n="85" d="100"/>
          <a:sy n="85" d="100"/>
        </p:scale>
        <p:origin x="77" y="20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F6A798-D9EB-410B-A985-A897E641B406}" type="datetimeFigureOut">
              <a:rPr lang="en-US" smtClean="0"/>
              <a:pPr/>
              <a:t>5/24/2021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73B71B-D833-4487-9405-0011F593E8CC}" type="slidenum">
              <a:rPr lang="en-US" smtClean="0"/>
              <a:pPr/>
              <a:t>‹#›</a:t>
            </a:fld>
            <a:endParaRPr lang="en-US"/>
          </a:p>
        </p:txBody>
      </p:sp>
    </p:spTree>
    <p:extLst>
      <p:ext uri="{BB962C8B-B14F-4D97-AF65-F5344CB8AC3E}">
        <p14:creationId xmlns:p14="http://schemas.microsoft.com/office/powerpoint/2010/main" val="2017680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93105" y="802298"/>
            <a:ext cx="8561747"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93106" y="3531204"/>
            <a:ext cx="8561746"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0309BC7-F411-4C3D-92C1-69FCACD6E9C2}" type="datetime1">
              <a:rPr lang="en-US" smtClean="0"/>
              <a:pPr/>
              <a:t>5/24/2021</a:t>
            </a:fld>
            <a:endParaRPr lang="en-US"/>
          </a:p>
        </p:txBody>
      </p:sp>
      <p:sp>
        <p:nvSpPr>
          <p:cNvPr id="5" name="Footer Placeholder 4"/>
          <p:cNvSpPr>
            <a:spLocks noGrp="1"/>
          </p:cNvSpPr>
          <p:nvPr>
            <p:ph type="ftr" sz="quarter" idx="11"/>
          </p:nvPr>
        </p:nvSpPr>
        <p:spPr>
          <a:xfrm>
            <a:off x="2493105" y="329307"/>
            <a:ext cx="4897310" cy="309201"/>
          </a:xfrm>
        </p:spPr>
        <p:txBody>
          <a:bodyPr/>
          <a:lstStyle/>
          <a:p>
            <a:r>
              <a:rPr lang="en-US"/>
              <a:t>Prepared by Jetty Benjamin,Assistant Professor ,Amal Jyothi College Of Engineering,Kanjirappally</a:t>
            </a:r>
          </a:p>
        </p:txBody>
      </p:sp>
      <p:sp>
        <p:nvSpPr>
          <p:cNvPr id="6" name="Slide Number Placeholder 5"/>
          <p:cNvSpPr>
            <a:spLocks noGrp="1"/>
          </p:cNvSpPr>
          <p:nvPr>
            <p:ph type="sldNum" sz="quarter" idx="12"/>
          </p:nvPr>
        </p:nvSpPr>
        <p:spPr>
          <a:xfrm>
            <a:off x="1437664" y="798973"/>
            <a:ext cx="811019" cy="503578"/>
          </a:xfrm>
        </p:spPr>
        <p:txBody>
          <a:bodyPr/>
          <a:lstStyle/>
          <a:p>
            <a:fld id="{E3276150-BA18-4526-A70E-8E982500A690}" type="slidenum">
              <a:rPr lang="en-US" smtClean="0"/>
              <a:pPr/>
              <a:t>‹#›</a:t>
            </a:fld>
            <a:endParaRPr lang="en-US"/>
          </a:p>
        </p:txBody>
      </p:sp>
      <p:cxnSp>
        <p:nvCxnSpPr>
          <p:cNvPr id="8" name="Straight Connector 7"/>
          <p:cNvCxnSpPr/>
          <p:nvPr/>
        </p:nvCxnSpPr>
        <p:spPr>
          <a:xfrm>
            <a:off x="2334637" y="798973"/>
            <a:ext cx="0" cy="254475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93541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B1D06B-967C-4581-8764-1EF4D78BB356}" type="datetime1">
              <a:rPr lang="en-US" smtClean="0"/>
              <a:pPr/>
              <a:t>5/24/2021</a:t>
            </a:fld>
            <a:endParaRPr lang="en-US"/>
          </a:p>
        </p:txBody>
      </p:sp>
      <p:sp>
        <p:nvSpPr>
          <p:cNvPr id="5" name="Footer Placeholder 4"/>
          <p:cNvSpPr>
            <a:spLocks noGrp="1"/>
          </p:cNvSpPr>
          <p:nvPr>
            <p:ph type="ftr" sz="quarter" idx="11"/>
          </p:nvPr>
        </p:nvSpPr>
        <p:spPr/>
        <p:txBody>
          <a:bodyPr/>
          <a:lstStyle/>
          <a:p>
            <a:r>
              <a:rPr lang="en-US"/>
              <a:t>Prepared by Jetty Benjamin,Assistant Professor ,Amal Jyothi College Of Engineering,Kanjirappally</a:t>
            </a:r>
          </a:p>
        </p:txBody>
      </p:sp>
      <p:sp>
        <p:nvSpPr>
          <p:cNvPr id="6" name="Slide Number Placeholder 5"/>
          <p:cNvSpPr>
            <a:spLocks noGrp="1"/>
          </p:cNvSpPr>
          <p:nvPr>
            <p:ph type="sldNum" sz="quarter" idx="12"/>
          </p:nvPr>
        </p:nvSpPr>
        <p:spPr/>
        <p:txBody>
          <a:bodyPr/>
          <a:lstStyle/>
          <a:p>
            <a:fld id="{E3276150-BA18-4526-A70E-8E982500A690}" type="slidenum">
              <a:rPr lang="en-US" smtClean="0"/>
              <a:pPr/>
              <a:t>‹#›</a:t>
            </a:fld>
            <a:endParaRPr lang="en-US"/>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35686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34813" y="1756130"/>
            <a:ext cx="8562580"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534695" y="3806195"/>
            <a:ext cx="854999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0FF954E-0ACA-48E4-9196-7AD98654B7C0}" type="datetime1">
              <a:rPr lang="en-US" smtClean="0"/>
              <a:pPr/>
              <a:t>5/24/2021</a:t>
            </a:fld>
            <a:endParaRPr lang="en-US"/>
          </a:p>
        </p:txBody>
      </p:sp>
      <p:sp>
        <p:nvSpPr>
          <p:cNvPr id="5" name="Footer Placeholder 4"/>
          <p:cNvSpPr>
            <a:spLocks noGrp="1"/>
          </p:cNvSpPr>
          <p:nvPr>
            <p:ph type="ftr" sz="quarter" idx="11"/>
          </p:nvPr>
        </p:nvSpPr>
        <p:spPr/>
        <p:txBody>
          <a:bodyPr/>
          <a:lstStyle/>
          <a:p>
            <a:r>
              <a:rPr lang="en-US"/>
              <a:t>Prepared by Jetty Benjamin,Assistant Professor ,Amal Jyothi College Of Engineering,Kanjirappally</a:t>
            </a:r>
          </a:p>
        </p:txBody>
      </p:sp>
      <p:sp>
        <p:nvSpPr>
          <p:cNvPr id="6" name="Slide Number Placeholder 5"/>
          <p:cNvSpPr>
            <a:spLocks noGrp="1"/>
          </p:cNvSpPr>
          <p:nvPr>
            <p:ph type="sldNum" sz="quarter" idx="12"/>
          </p:nvPr>
        </p:nvSpPr>
        <p:spPr/>
        <p:txBody>
          <a:bodyPr/>
          <a:lstStyle/>
          <a:p>
            <a:fld id="{E3276150-BA18-4526-A70E-8E982500A690}" type="slidenum">
              <a:rPr lang="en-US" smtClean="0"/>
              <a:pPr/>
              <a:t>‹#›</a:t>
            </a:fld>
            <a:endParaRPr lang="en-US"/>
          </a:p>
        </p:txBody>
      </p:sp>
      <p:cxnSp>
        <p:nvCxnSpPr>
          <p:cNvPr id="8" name="Straight Connector 7"/>
          <p:cNvCxnSpPr/>
          <p:nvPr/>
        </p:nvCxnSpPr>
        <p:spPr>
          <a:xfrm>
            <a:off x="1371687" y="798973"/>
            <a:ext cx="0" cy="284510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02041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889"/>
            <a:ext cx="952015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534695" y="2010878"/>
            <a:ext cx="4608576" cy="343814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4793" y="2017343"/>
            <a:ext cx="4604130" cy="344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A42535-93FB-47C4-82AE-135BFBDA8002}" type="datetime1">
              <a:rPr lang="en-US" smtClean="0"/>
              <a:pPr/>
              <a:t>5/24/2021</a:t>
            </a:fld>
            <a:endParaRPr lang="en-US"/>
          </a:p>
        </p:txBody>
      </p:sp>
      <p:sp>
        <p:nvSpPr>
          <p:cNvPr id="6" name="Footer Placeholder 5"/>
          <p:cNvSpPr>
            <a:spLocks noGrp="1"/>
          </p:cNvSpPr>
          <p:nvPr>
            <p:ph type="ftr" sz="quarter" idx="11"/>
          </p:nvPr>
        </p:nvSpPr>
        <p:spPr/>
        <p:txBody>
          <a:bodyPr/>
          <a:lstStyle/>
          <a:p>
            <a:r>
              <a:rPr lang="en-US"/>
              <a:t>Prepared by Jetty Benjamin,Assistant Professor ,Amal Jyothi College Of Engineering,Kanjirappally</a:t>
            </a:r>
          </a:p>
        </p:txBody>
      </p:sp>
      <p:sp>
        <p:nvSpPr>
          <p:cNvPr id="7" name="Slide Number Placeholder 6"/>
          <p:cNvSpPr>
            <a:spLocks noGrp="1"/>
          </p:cNvSpPr>
          <p:nvPr>
            <p:ph type="sldNum" sz="quarter" idx="12"/>
          </p:nvPr>
        </p:nvSpPr>
        <p:spPr/>
        <p:txBody>
          <a:bodyPr/>
          <a:lstStyle/>
          <a:p>
            <a:fld id="{E3276150-BA18-4526-A70E-8E982500A690}" type="slidenum">
              <a:rPr lang="en-US" smtClean="0"/>
              <a:pPr/>
              <a:t>‹#›</a:t>
            </a:fld>
            <a:endParaRPr lang="en-US"/>
          </a:p>
        </p:txBody>
      </p:sp>
      <p:cxnSp>
        <p:nvCxnSpPr>
          <p:cNvPr id="9" name="Straight Connector 8"/>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21189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163"/>
            <a:ext cx="9520157"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34695" y="2019549"/>
            <a:ext cx="4608576"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34695" y="2824269"/>
            <a:ext cx="4608576"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4791" y="2023003"/>
            <a:ext cx="4608576"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54792" y="2821491"/>
            <a:ext cx="4608576"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8B13798-BE8E-4081-B972-7D876D6C621A}" type="datetime1">
              <a:rPr lang="en-US" smtClean="0"/>
              <a:pPr/>
              <a:t>5/24/2021</a:t>
            </a:fld>
            <a:endParaRPr lang="en-US"/>
          </a:p>
        </p:txBody>
      </p:sp>
      <p:sp>
        <p:nvSpPr>
          <p:cNvPr id="8" name="Footer Placeholder 7"/>
          <p:cNvSpPr>
            <a:spLocks noGrp="1"/>
          </p:cNvSpPr>
          <p:nvPr>
            <p:ph type="ftr" sz="quarter" idx="11"/>
          </p:nvPr>
        </p:nvSpPr>
        <p:spPr/>
        <p:txBody>
          <a:bodyPr/>
          <a:lstStyle/>
          <a:p>
            <a:r>
              <a:rPr lang="en-US"/>
              <a:t>Prepared by Jetty Benjamin,Assistant Professor ,Amal Jyothi College Of Engineering,Kanjirappally</a:t>
            </a:r>
          </a:p>
        </p:txBody>
      </p:sp>
      <p:sp>
        <p:nvSpPr>
          <p:cNvPr id="9" name="Slide Number Placeholder 8"/>
          <p:cNvSpPr>
            <a:spLocks noGrp="1"/>
          </p:cNvSpPr>
          <p:nvPr>
            <p:ph type="sldNum" sz="quarter" idx="12"/>
          </p:nvPr>
        </p:nvSpPr>
        <p:spPr/>
        <p:txBody>
          <a:bodyPr/>
          <a:lstStyle/>
          <a:p>
            <a:fld id="{E3276150-BA18-4526-A70E-8E982500A690}" type="slidenum">
              <a:rPr lang="en-US" smtClean="0"/>
              <a:pPr/>
              <a:t>‹#›</a:t>
            </a:fld>
            <a:endParaRPr lang="en-US"/>
          </a:p>
        </p:txBody>
      </p:sp>
      <p:cxnSp>
        <p:nvCxnSpPr>
          <p:cNvPr id="11" name="Straight Connector 10"/>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41265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26A46B8-35FB-4CB6-A3CF-DC246E11EF78}" type="datetime1">
              <a:rPr lang="en-US" smtClean="0"/>
              <a:pPr/>
              <a:t>5/24/2021</a:t>
            </a:fld>
            <a:endParaRPr lang="en-US"/>
          </a:p>
        </p:txBody>
      </p:sp>
      <p:sp>
        <p:nvSpPr>
          <p:cNvPr id="4" name="Footer Placeholder 3"/>
          <p:cNvSpPr>
            <a:spLocks noGrp="1"/>
          </p:cNvSpPr>
          <p:nvPr>
            <p:ph type="ftr" sz="quarter" idx="11"/>
          </p:nvPr>
        </p:nvSpPr>
        <p:spPr/>
        <p:txBody>
          <a:bodyPr/>
          <a:lstStyle/>
          <a:p>
            <a:r>
              <a:rPr lang="en-US"/>
              <a:t>Prepared by Jetty Benjamin,Assistant Professor ,Amal Jyothi College Of Engineering,Kanjirappally</a:t>
            </a:r>
          </a:p>
        </p:txBody>
      </p:sp>
      <p:sp>
        <p:nvSpPr>
          <p:cNvPr id="5" name="Slide Number Placeholder 4"/>
          <p:cNvSpPr>
            <a:spLocks noGrp="1"/>
          </p:cNvSpPr>
          <p:nvPr>
            <p:ph type="sldNum" sz="quarter" idx="12"/>
          </p:nvPr>
        </p:nvSpPr>
        <p:spPr/>
        <p:txBody>
          <a:bodyPr/>
          <a:lstStyle/>
          <a:p>
            <a:fld id="{E3276150-BA18-4526-A70E-8E982500A690}" type="slidenum">
              <a:rPr lang="en-US" smtClean="0"/>
              <a:pPr/>
              <a:t>‹#›</a:t>
            </a:fld>
            <a:endParaRPr lang="en-US"/>
          </a:p>
        </p:txBody>
      </p:sp>
      <p:cxnSp>
        <p:nvCxnSpPr>
          <p:cNvPr id="7" name="Straight Connector 6"/>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4212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EB7590-5EB7-47B3-8994-089FE4244976}" type="datetime1">
              <a:rPr lang="en-US" smtClean="0"/>
              <a:pPr/>
              <a:t>5/24/2021</a:t>
            </a:fld>
            <a:endParaRPr lang="en-US"/>
          </a:p>
        </p:txBody>
      </p:sp>
      <p:sp>
        <p:nvSpPr>
          <p:cNvPr id="3" name="Footer Placeholder 2"/>
          <p:cNvSpPr>
            <a:spLocks noGrp="1"/>
          </p:cNvSpPr>
          <p:nvPr>
            <p:ph type="ftr" sz="quarter" idx="11"/>
          </p:nvPr>
        </p:nvSpPr>
        <p:spPr/>
        <p:txBody>
          <a:bodyPr/>
          <a:lstStyle/>
          <a:p>
            <a:r>
              <a:rPr lang="en-US"/>
              <a:t>Prepared by Jetty Benjamin,Assistant Professor ,Amal Jyothi College Of Engineering,Kanjirappally</a:t>
            </a:r>
          </a:p>
        </p:txBody>
      </p:sp>
      <p:sp>
        <p:nvSpPr>
          <p:cNvPr id="4" name="Slide Number Placeholder 3"/>
          <p:cNvSpPr>
            <a:spLocks noGrp="1"/>
          </p:cNvSpPr>
          <p:nvPr>
            <p:ph type="sldNum" sz="quarter" idx="12"/>
          </p:nvPr>
        </p:nvSpPr>
        <p:spPr/>
        <p:txBody>
          <a:bodyPr/>
          <a:lstStyle/>
          <a:p>
            <a:fld id="{E3276150-BA18-4526-A70E-8E982500A690}" type="slidenum">
              <a:rPr lang="en-US" smtClean="0"/>
              <a:pPr/>
              <a:t>‹#›</a:t>
            </a:fld>
            <a:endParaRPr lang="en-US"/>
          </a:p>
        </p:txBody>
      </p:sp>
    </p:spTree>
    <p:extLst>
      <p:ext uri="{BB962C8B-B14F-4D97-AF65-F5344CB8AC3E}">
        <p14:creationId xmlns:p14="http://schemas.microsoft.com/office/powerpoint/2010/main" val="15762701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34642" y="798973"/>
            <a:ext cx="3183128"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34695" y="3205491"/>
            <a:ext cx="3184989"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850915D-D986-440F-B322-C3E660D03FB7}" type="datetime1">
              <a:rPr lang="en-US" smtClean="0"/>
              <a:pPr/>
              <a:t>5/24/2021</a:t>
            </a:fld>
            <a:endParaRPr lang="en-US"/>
          </a:p>
        </p:txBody>
      </p:sp>
      <p:sp>
        <p:nvSpPr>
          <p:cNvPr id="6" name="Footer Placeholder 5"/>
          <p:cNvSpPr>
            <a:spLocks noGrp="1"/>
          </p:cNvSpPr>
          <p:nvPr>
            <p:ph type="ftr" sz="quarter" idx="11"/>
          </p:nvPr>
        </p:nvSpPr>
        <p:spPr/>
        <p:txBody>
          <a:bodyPr/>
          <a:lstStyle/>
          <a:p>
            <a:r>
              <a:rPr lang="en-US"/>
              <a:t>Prepared by Jetty Benjamin,Assistant Professor ,Amal Jyothi College Of Engineering,Kanjirappally</a:t>
            </a:r>
          </a:p>
        </p:txBody>
      </p:sp>
      <p:sp>
        <p:nvSpPr>
          <p:cNvPr id="7" name="Slide Number Placeholder 6"/>
          <p:cNvSpPr>
            <a:spLocks noGrp="1"/>
          </p:cNvSpPr>
          <p:nvPr>
            <p:ph type="sldNum" sz="quarter" idx="12"/>
          </p:nvPr>
        </p:nvSpPr>
        <p:spPr/>
        <p:txBody>
          <a:bodyPr/>
          <a:lstStyle/>
          <a:p>
            <a:fld id="{E3276150-BA18-4526-A70E-8E982500A690}" type="slidenum">
              <a:rPr lang="en-US" smtClean="0"/>
              <a:pPr/>
              <a:t>‹#›</a:t>
            </a:fld>
            <a:endParaRPr lang="en-US"/>
          </a:p>
        </p:txBody>
      </p:sp>
      <p:cxnSp>
        <p:nvCxnSpPr>
          <p:cNvPr id="9" name="Straight Connector 8"/>
          <p:cNvCxnSpPr/>
          <p:nvPr/>
        </p:nvCxnSpPr>
        <p:spPr>
          <a:xfrm>
            <a:off x="1371687" y="798973"/>
            <a:ext cx="0" cy="224711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48855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bg2">
                    <a:lumMod val="10000"/>
                  </a:schemeClr>
                </a:gs>
                <a:gs pos="100000">
                  <a:schemeClr val="bg2">
                    <a:lumMod val="10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prstMaterial="matte">
              <a:bevelT w="133350" h="50800" prst="divot"/>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535694" y="1129513"/>
            <a:ext cx="5447840"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534695" y="3145992"/>
            <a:ext cx="5440037"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1534695" y="5469856"/>
            <a:ext cx="5440038" cy="320123"/>
          </a:xfrm>
        </p:spPr>
        <p:txBody>
          <a:bodyPr/>
          <a:lstStyle>
            <a:lvl1pPr algn="l">
              <a:defRPr/>
            </a:lvl1pPr>
          </a:lstStyle>
          <a:p>
            <a:fld id="{7003DCCC-5A8E-445F-AEBD-CD7C2FA65B74}" type="datetime1">
              <a:rPr lang="en-US" smtClean="0"/>
              <a:pPr/>
              <a:t>5/24/2021</a:t>
            </a:fld>
            <a:endParaRPr lang="en-US"/>
          </a:p>
        </p:txBody>
      </p:sp>
      <p:sp>
        <p:nvSpPr>
          <p:cNvPr id="6" name="Footer Placeholder 5"/>
          <p:cNvSpPr>
            <a:spLocks noGrp="1"/>
          </p:cNvSpPr>
          <p:nvPr>
            <p:ph type="ftr" sz="quarter" idx="11"/>
          </p:nvPr>
        </p:nvSpPr>
        <p:spPr>
          <a:xfrm>
            <a:off x="1534910" y="318640"/>
            <a:ext cx="5453475" cy="320931"/>
          </a:xfrm>
        </p:spPr>
        <p:txBody>
          <a:bodyPr/>
          <a:lstStyle/>
          <a:p>
            <a:r>
              <a:rPr lang="en-US"/>
              <a:t>Prepared by Jetty Benjamin,Assistant Professor ,Amal Jyothi College Of Engineering,Kanjirappally</a:t>
            </a:r>
          </a:p>
        </p:txBody>
      </p:sp>
      <p:sp>
        <p:nvSpPr>
          <p:cNvPr id="7" name="Slide Number Placeholder 6"/>
          <p:cNvSpPr>
            <a:spLocks noGrp="1"/>
          </p:cNvSpPr>
          <p:nvPr>
            <p:ph type="sldNum" sz="quarter" idx="12"/>
          </p:nvPr>
        </p:nvSpPr>
        <p:spPr/>
        <p:txBody>
          <a:bodyPr/>
          <a:lstStyle/>
          <a:p>
            <a:fld id="{E3276150-BA18-4526-A70E-8E982500A690}" type="slidenum">
              <a:rPr lang="en-US" smtClean="0"/>
              <a:pPr/>
              <a:t>‹#›</a:t>
            </a:fld>
            <a:endParaRPr lang="en-US"/>
          </a:p>
        </p:txBody>
      </p:sp>
      <p:cxnSp>
        <p:nvCxnSpPr>
          <p:cNvPr id="14" name="Straight Connector 13"/>
          <p:cNvCxnSpPr/>
          <p:nvPr/>
        </p:nvCxnSpPr>
        <p:spPr>
          <a:xfrm>
            <a:off x="1371687" y="798973"/>
            <a:ext cx="0" cy="2161124"/>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54833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42CFBC-9822-4B46-BD0E-E427F6322D96}" type="datetime1">
              <a:rPr lang="en-US" smtClean="0"/>
              <a:pPr/>
              <a:t>5/24/2021</a:t>
            </a:fld>
            <a:endParaRPr lang="en-US"/>
          </a:p>
        </p:txBody>
      </p:sp>
      <p:sp>
        <p:nvSpPr>
          <p:cNvPr id="5" name="Footer Placeholder 4"/>
          <p:cNvSpPr>
            <a:spLocks noGrp="1"/>
          </p:cNvSpPr>
          <p:nvPr>
            <p:ph type="ftr" sz="quarter" idx="11"/>
          </p:nvPr>
        </p:nvSpPr>
        <p:spPr/>
        <p:txBody>
          <a:bodyPr/>
          <a:lstStyle/>
          <a:p>
            <a:r>
              <a:rPr lang="en-US"/>
              <a:t>Prepared by Jetty Benjamin,Assistant Professor ,Amal Jyothi College Of Engineering,Kanjirappally</a:t>
            </a:r>
          </a:p>
        </p:txBody>
      </p:sp>
      <p:sp>
        <p:nvSpPr>
          <p:cNvPr id="6" name="Slide Number Placeholder 5"/>
          <p:cNvSpPr>
            <a:spLocks noGrp="1"/>
          </p:cNvSpPr>
          <p:nvPr>
            <p:ph type="sldNum" sz="quarter" idx="12"/>
          </p:nvPr>
        </p:nvSpPr>
        <p:spPr/>
        <p:txBody>
          <a:bodyPr/>
          <a:lstStyle/>
          <a:p>
            <a:fld id="{E3276150-BA18-4526-A70E-8E982500A690}" type="slidenum">
              <a:rPr lang="en-US" smtClean="0"/>
              <a:pPr/>
              <a:t>‹#›</a:t>
            </a:fld>
            <a:endParaRPr lang="en-US"/>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57100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883863"/>
            <a:ext cx="1615742" cy="457499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534694" y="883863"/>
            <a:ext cx="7738807" cy="45749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AD12D5-B8EE-43CD-AEE0-9D2EE72CB78C}" type="datetime1">
              <a:rPr lang="en-US" smtClean="0"/>
              <a:pPr/>
              <a:t>5/24/2021</a:t>
            </a:fld>
            <a:endParaRPr lang="en-US"/>
          </a:p>
        </p:txBody>
      </p:sp>
      <p:sp>
        <p:nvSpPr>
          <p:cNvPr id="5" name="Footer Placeholder 4"/>
          <p:cNvSpPr>
            <a:spLocks noGrp="1"/>
          </p:cNvSpPr>
          <p:nvPr>
            <p:ph type="ftr" sz="quarter" idx="11"/>
          </p:nvPr>
        </p:nvSpPr>
        <p:spPr/>
        <p:txBody>
          <a:bodyPr/>
          <a:lstStyle/>
          <a:p>
            <a:r>
              <a:rPr lang="en-US"/>
              <a:t>Prepared by Jetty Benjamin,Assistant Professor ,Amal Jyothi College Of Engineering,Kanjirappally</a:t>
            </a:r>
          </a:p>
        </p:txBody>
      </p:sp>
      <p:sp>
        <p:nvSpPr>
          <p:cNvPr id="6" name="Slide Number Placeholder 5"/>
          <p:cNvSpPr>
            <a:spLocks noGrp="1"/>
          </p:cNvSpPr>
          <p:nvPr>
            <p:ph type="sldNum" sz="quarter" idx="12"/>
          </p:nvPr>
        </p:nvSpPr>
        <p:spPr/>
        <p:txBody>
          <a:bodyPr/>
          <a:lstStyle/>
          <a:p>
            <a:fld id="{E3276150-BA18-4526-A70E-8E982500A690}" type="slidenum">
              <a:rPr lang="en-US" smtClean="0"/>
              <a:pPr/>
              <a:t>‹#›</a:t>
            </a:fld>
            <a:endParaRPr lang="en-US"/>
          </a:p>
        </p:txBody>
      </p:sp>
      <p:cxnSp>
        <p:nvCxnSpPr>
          <p:cNvPr id="8" name="Straight Connector 7"/>
          <p:cNvCxnSpPr/>
          <p:nvPr/>
        </p:nvCxnSpPr>
        <p:spPr>
          <a:xfrm flipH="1">
            <a:off x="9439111" y="719272"/>
            <a:ext cx="1615742" cy="0"/>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53549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Rectangle 8"/>
          <p:cNvSpPr/>
          <p:nvPr/>
        </p:nvSpPr>
        <p:spPr>
          <a:xfrm>
            <a:off x="0" y="2015732"/>
            <a:ext cx="12192000" cy="41188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srcRect t="2769" b="-2769"/>
          <a:stretch/>
        </p:blipFill>
        <p:spPr>
          <a:xfrm>
            <a:off x="0" y="6135624"/>
            <a:ext cx="12192000" cy="742950"/>
          </a:xfrm>
          <a:prstGeom prst="rect">
            <a:avLst/>
          </a:prstGeom>
        </p:spPr>
      </p:pic>
      <p:sp>
        <p:nvSpPr>
          <p:cNvPr id="2" name="Title Placeholder 1"/>
          <p:cNvSpPr>
            <a:spLocks noGrp="1"/>
          </p:cNvSpPr>
          <p:nvPr>
            <p:ph type="title"/>
          </p:nvPr>
        </p:nvSpPr>
        <p:spPr>
          <a:xfrm>
            <a:off x="1534696" y="804519"/>
            <a:ext cx="9520158" cy="104923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534696" y="2015732"/>
            <a:ext cx="9520158"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99AC0A54-2DEF-4A0D-97A4-2C060BA72CB1}" type="datetime1">
              <a:rPr lang="en-US" smtClean="0"/>
              <a:pPr/>
              <a:t>5/24/2021</a:t>
            </a:fld>
            <a:endParaRPr lang="en-US"/>
          </a:p>
        </p:txBody>
      </p:sp>
      <p:sp>
        <p:nvSpPr>
          <p:cNvPr id="5" name="Footer Placeholder 4"/>
          <p:cNvSpPr>
            <a:spLocks noGrp="1"/>
          </p:cNvSpPr>
          <p:nvPr>
            <p:ph type="ftr" sz="quarter" idx="3"/>
          </p:nvPr>
        </p:nvSpPr>
        <p:spPr>
          <a:xfrm>
            <a:off x="1534695" y="329307"/>
            <a:ext cx="5855719"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Prepared by Jetty Benjamin,Assistant Professor ,Amal Jyothi College Of Engineering,Kanjirappally</a:t>
            </a:r>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E3276150-BA18-4526-A70E-8E982500A690}" type="slidenum">
              <a:rPr lang="en-US" smtClean="0"/>
              <a:pPr/>
              <a:t>‹#›</a:t>
            </a:fld>
            <a:endParaRPr lang="en-US"/>
          </a:p>
        </p:txBody>
      </p:sp>
      <p:cxnSp>
        <p:nvCxnSpPr>
          <p:cNvPr id="12" name="Straight Connector 11"/>
          <p:cNvCxnSpPr/>
          <p:nvPr/>
        </p:nvCxnSpPr>
        <p:spPr>
          <a:xfrm>
            <a:off x="0" y="6141705"/>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598703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t>Application Development and Maintenance</a:t>
            </a:r>
          </a:p>
        </p:txBody>
      </p:sp>
      <p:sp>
        <p:nvSpPr>
          <p:cNvPr id="3" name="Subtitle 2"/>
          <p:cNvSpPr>
            <a:spLocks noGrp="1"/>
          </p:cNvSpPr>
          <p:nvPr>
            <p:ph type="subTitle" idx="1"/>
          </p:nvPr>
        </p:nvSpPr>
        <p:spPr/>
        <p:txBody>
          <a:bodyPr/>
          <a:lstStyle/>
          <a:p>
            <a:r>
              <a:rPr lang="en-US" dirty="0"/>
              <a:t>MODULE 1</a:t>
            </a:r>
          </a:p>
        </p:txBody>
      </p:sp>
    </p:spTree>
    <p:extLst>
      <p:ext uri="{BB962C8B-B14F-4D97-AF65-F5344CB8AC3E}">
        <p14:creationId xmlns:p14="http://schemas.microsoft.com/office/powerpoint/2010/main" val="3716819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704675" y="1048857"/>
            <a:ext cx="9463088" cy="4116388"/>
          </a:xfrm>
        </p:spPr>
      </p:pic>
    </p:spTree>
    <p:extLst>
      <p:ext uri="{BB962C8B-B14F-4D97-AF65-F5344CB8AC3E}">
        <p14:creationId xmlns:p14="http://schemas.microsoft.com/office/powerpoint/2010/main" val="2423856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2286" y="342420"/>
            <a:ext cx="9520158" cy="1049235"/>
          </a:xfrm>
        </p:spPr>
        <p:txBody>
          <a:bodyPr>
            <a:normAutofit fontScale="90000"/>
          </a:bodyPr>
          <a:lstStyle/>
          <a:p>
            <a:pPr marL="1028700" indent="-1028700">
              <a:buFont typeface="+mj-lt"/>
              <a:buAutoNum type="romanUcPeriod"/>
            </a:pPr>
            <a:r>
              <a:rPr lang="en-US" sz="4800" b="1" u="sng" dirty="0"/>
              <a:t>Principles of Software Delivery</a:t>
            </a:r>
          </a:p>
        </p:txBody>
      </p:sp>
      <p:sp>
        <p:nvSpPr>
          <p:cNvPr id="3" name="Content Placeholder 2"/>
          <p:cNvSpPr>
            <a:spLocks noGrp="1"/>
          </p:cNvSpPr>
          <p:nvPr>
            <p:ph idx="1"/>
          </p:nvPr>
        </p:nvSpPr>
        <p:spPr/>
        <p:txBody>
          <a:bodyPr>
            <a:noAutofit/>
          </a:bodyPr>
          <a:lstStyle/>
          <a:p>
            <a:pPr>
              <a:buNone/>
            </a:pPr>
            <a:r>
              <a:rPr lang="en-US" sz="2800" dirty="0">
                <a:latin typeface="Times New Roman" panose="02020603050405020304" pitchFamily="18" charset="0"/>
                <a:cs typeface="Times New Roman" panose="02020603050405020304" pitchFamily="18" charset="0"/>
              </a:rPr>
              <a:t>1. Create a Repeatable, Reliable Process for Releasing Software </a:t>
            </a:r>
          </a:p>
          <a:p>
            <a:r>
              <a:rPr lang="en-US" sz="2800" dirty="0">
                <a:latin typeface="Times New Roman" panose="02020603050405020304" pitchFamily="18" charset="0"/>
                <a:cs typeface="Times New Roman" panose="02020603050405020304" pitchFamily="18" charset="0"/>
              </a:rPr>
              <a:t>Automate Almost Everything </a:t>
            </a:r>
          </a:p>
          <a:p>
            <a:r>
              <a:rPr lang="en-US" sz="2800" dirty="0">
                <a:latin typeface="Times New Roman" panose="02020603050405020304" pitchFamily="18" charset="0"/>
                <a:cs typeface="Times New Roman" panose="02020603050405020304" pitchFamily="18" charset="0"/>
              </a:rPr>
              <a:t>Keep Everything in Version Control</a:t>
            </a:r>
          </a:p>
          <a:p>
            <a:pPr>
              <a:buNone/>
            </a:pPr>
            <a:r>
              <a:rPr lang="en-US" sz="2800" dirty="0">
                <a:latin typeface="Times New Roman" panose="02020603050405020304" pitchFamily="18" charset="0"/>
                <a:cs typeface="Times New Roman" panose="02020603050405020304" pitchFamily="18" charset="0"/>
              </a:rPr>
              <a:t>2. If It Hurts, Do It More Frequently, and Bring the Pain Forward </a:t>
            </a:r>
          </a:p>
        </p:txBody>
      </p:sp>
    </p:spTree>
    <p:extLst>
      <p:ext uri="{BB962C8B-B14F-4D97-AF65-F5344CB8AC3E}">
        <p14:creationId xmlns:p14="http://schemas.microsoft.com/office/powerpoint/2010/main" val="1558315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463748" y="883611"/>
            <a:ext cx="9520237" cy="3449638"/>
          </a:xfrm>
        </p:spPr>
        <p:txBody>
          <a:bodyPr>
            <a:normAutofit/>
          </a:bodyPr>
          <a:lstStyle/>
          <a:p>
            <a:pPr marL="514350" indent="-514350">
              <a:buNone/>
            </a:pPr>
            <a:r>
              <a:rPr lang="en-US" sz="2800" dirty="0">
                <a:latin typeface="Times New Roman" panose="02020603050405020304" pitchFamily="18" charset="0"/>
                <a:cs typeface="Times New Roman" panose="02020603050405020304" pitchFamily="18" charset="0"/>
              </a:rPr>
              <a:t>3. Build Quality In </a:t>
            </a:r>
          </a:p>
          <a:p>
            <a:pPr marL="514350" indent="-514350">
              <a:buNone/>
            </a:pPr>
            <a:r>
              <a:rPr lang="en-US" sz="2800" dirty="0">
                <a:latin typeface="Times New Roman" panose="02020603050405020304" pitchFamily="18" charset="0"/>
                <a:cs typeface="Times New Roman" panose="02020603050405020304" pitchFamily="18" charset="0"/>
              </a:rPr>
              <a:t>4. Done Means Released </a:t>
            </a:r>
          </a:p>
          <a:p>
            <a:pPr marL="514350" indent="-514350">
              <a:buNone/>
            </a:pPr>
            <a:r>
              <a:rPr lang="en-US" sz="2800" dirty="0">
                <a:latin typeface="Times New Roman" panose="02020603050405020304" pitchFamily="18" charset="0"/>
                <a:cs typeface="Times New Roman" panose="02020603050405020304" pitchFamily="18" charset="0"/>
              </a:rPr>
              <a:t>5. Everybody Is Responsible for the Delivery Process</a:t>
            </a:r>
          </a:p>
          <a:p>
            <a:pPr marL="514350" indent="-514350">
              <a:buNone/>
            </a:pPr>
            <a:r>
              <a:rPr lang="en-US" sz="2800" dirty="0">
                <a:latin typeface="Times New Roman" panose="02020603050405020304" pitchFamily="18" charset="0"/>
                <a:cs typeface="Times New Roman" panose="02020603050405020304" pitchFamily="18" charset="0"/>
              </a:rPr>
              <a:t>6. Continuous Improvement </a:t>
            </a:r>
          </a:p>
        </p:txBody>
      </p:sp>
    </p:spTree>
    <p:extLst>
      <p:ext uri="{BB962C8B-B14F-4D97-AF65-F5344CB8AC3E}">
        <p14:creationId xmlns:p14="http://schemas.microsoft.com/office/powerpoint/2010/main" val="3287625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80176" y="871975"/>
            <a:ext cx="9520238" cy="3449637"/>
          </a:xfrm>
        </p:spPr>
        <p:txBody>
          <a:bodyPr>
            <a:noAutofit/>
          </a:bodyPr>
          <a:lstStyle/>
          <a:p>
            <a:pPr marL="0" indent="0">
              <a:buNone/>
            </a:pPr>
            <a:r>
              <a:rPr lang="en-US" sz="2800" dirty="0">
                <a:solidFill>
                  <a:srgbClr val="FF0000"/>
                </a:solidFill>
                <a:latin typeface="Times New Roman" panose="02020603050405020304" pitchFamily="18" charset="0"/>
                <a:cs typeface="Times New Roman" panose="02020603050405020304" pitchFamily="18" charset="0"/>
              </a:rPr>
              <a:t>1.Create a Repeatable, Reliable Process for Releasing Software </a:t>
            </a:r>
          </a:p>
          <a:p>
            <a:r>
              <a:rPr lang="en-US" sz="2400" dirty="0">
                <a:latin typeface="Times New Roman" panose="02020603050405020304" pitchFamily="18" charset="0"/>
                <a:cs typeface="Times New Roman" panose="02020603050405020304" pitchFamily="18" charset="0"/>
              </a:rPr>
              <a:t>Releasing software should be easy. It should be as simple as pressing a button.</a:t>
            </a:r>
          </a:p>
          <a:p>
            <a:r>
              <a:rPr lang="en-US" sz="2400" dirty="0">
                <a:latin typeface="Times New Roman" panose="02020603050405020304" pitchFamily="18" charset="0"/>
                <a:cs typeface="Times New Roman" panose="02020603050405020304" pitchFamily="18" charset="0"/>
              </a:rPr>
              <a:t>The repeatability and reliability derive from two principles: automate almost everything, and keep everything you need to build, deploy, test, and release your application in version control</a:t>
            </a:r>
          </a:p>
        </p:txBody>
      </p:sp>
    </p:spTree>
    <p:extLst>
      <p:ext uri="{BB962C8B-B14F-4D97-AF65-F5344CB8AC3E}">
        <p14:creationId xmlns:p14="http://schemas.microsoft.com/office/powerpoint/2010/main" val="221199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170134" y="933945"/>
            <a:ext cx="9520237" cy="3449638"/>
          </a:xfrm>
        </p:spPr>
        <p:txBody>
          <a:bodyPr>
            <a:normAutofit lnSpcReduction="10000"/>
          </a:bodyPr>
          <a:lstStyle/>
          <a:p>
            <a:pPr marL="0" indent="0">
              <a:buNone/>
            </a:pPr>
            <a:r>
              <a:rPr lang="en-US" sz="2800" dirty="0">
                <a:latin typeface="Times New Roman" panose="02020603050405020304" pitchFamily="18" charset="0"/>
                <a:cs typeface="Times New Roman" panose="02020603050405020304" pitchFamily="18" charset="0"/>
              </a:rPr>
              <a:t>Deploying software ultimately involves three things:</a:t>
            </a:r>
          </a:p>
          <a:p>
            <a:pPr marL="0" indent="0">
              <a:buNone/>
            </a:pPr>
            <a:r>
              <a:rPr lang="en-US" sz="2800" dirty="0">
                <a:latin typeface="Times New Roman" panose="02020603050405020304" pitchFamily="18" charset="0"/>
                <a:cs typeface="Times New Roman" panose="02020603050405020304" pitchFamily="18" charset="0"/>
              </a:rPr>
              <a:t>• Provisioning and managing the environment in which your application will run. </a:t>
            </a:r>
          </a:p>
          <a:p>
            <a:pPr marL="0" indent="0">
              <a:buNone/>
            </a:pPr>
            <a:r>
              <a:rPr lang="en-US" sz="2800" dirty="0">
                <a:latin typeface="Times New Roman" panose="02020603050405020304" pitchFamily="18" charset="0"/>
                <a:cs typeface="Times New Roman" panose="02020603050405020304" pitchFamily="18" charset="0"/>
              </a:rPr>
              <a:t>• Installing the correct version of your application into it.</a:t>
            </a:r>
          </a:p>
          <a:p>
            <a:pPr marL="0" indent="0">
              <a:buNone/>
            </a:pPr>
            <a:r>
              <a:rPr lang="en-US" sz="2800" dirty="0">
                <a:latin typeface="Times New Roman" panose="02020603050405020304" pitchFamily="18" charset="0"/>
                <a:cs typeface="Times New Roman" panose="02020603050405020304" pitchFamily="18" charset="0"/>
              </a:rPr>
              <a:t>• Conﬁguring your application, including any data or state it requires</a:t>
            </a:r>
          </a:p>
        </p:txBody>
      </p:sp>
    </p:spTree>
    <p:extLst>
      <p:ext uri="{BB962C8B-B14F-4D97-AF65-F5344CB8AC3E}">
        <p14:creationId xmlns:p14="http://schemas.microsoft.com/office/powerpoint/2010/main" val="2338617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42963" y="959112"/>
            <a:ext cx="9520237" cy="3449638"/>
          </a:xfrm>
        </p:spPr>
        <p:txBody>
          <a:bodyPr>
            <a:normAutofit/>
          </a:bodyPr>
          <a:lstStyle/>
          <a:p>
            <a:pPr marL="0" indent="0">
              <a:buNone/>
            </a:pPr>
            <a:r>
              <a:rPr lang="en-US" sz="2800" dirty="0">
                <a:solidFill>
                  <a:srgbClr val="7030A0"/>
                </a:solidFill>
                <a:latin typeface="Times New Roman" panose="02020603050405020304" pitchFamily="18" charset="0"/>
                <a:cs typeface="Times New Roman" panose="02020603050405020304" pitchFamily="18" charset="0"/>
              </a:rPr>
              <a:t>Automate Almost Everything </a:t>
            </a:r>
          </a:p>
          <a:p>
            <a:pPr marL="0" indent="0">
              <a:buNone/>
            </a:pPr>
            <a:endParaRPr lang="en-US" sz="2800" dirty="0">
              <a:solidFill>
                <a:srgbClr val="7030A0"/>
              </a:solidFill>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Automation is a prerequisite for the deployment pipeline, because it is only through automation that we can guarantee that people will get what they need at the push of a button.</a:t>
            </a:r>
          </a:p>
          <a:p>
            <a:endParaRPr lang="en-US" dirty="0"/>
          </a:p>
        </p:txBody>
      </p:sp>
    </p:spTree>
    <p:extLst>
      <p:ext uri="{BB962C8B-B14F-4D97-AF65-F5344CB8AC3E}">
        <p14:creationId xmlns:p14="http://schemas.microsoft.com/office/powerpoint/2010/main" val="1412186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960409" y="908778"/>
            <a:ext cx="9520237" cy="3449638"/>
          </a:xfrm>
        </p:spPr>
        <p:txBody>
          <a:bodyPr/>
          <a:lstStyle/>
          <a:p>
            <a:r>
              <a:rPr lang="en-US" sz="2800" dirty="0">
                <a:latin typeface="Times New Roman" panose="02020603050405020304" pitchFamily="18" charset="0"/>
                <a:cs typeface="Times New Roman" panose="02020603050405020304" pitchFamily="18" charset="0"/>
              </a:rPr>
              <a:t>There are some things it is impossible to automate. The list of things that cannot be automated is much smaller than many people think.</a:t>
            </a:r>
          </a:p>
          <a:p>
            <a:r>
              <a:rPr lang="en-US" sz="2800" dirty="0">
                <a:latin typeface="Times New Roman" panose="02020603050405020304" pitchFamily="18" charset="0"/>
                <a:cs typeface="Times New Roman" panose="02020603050405020304" pitchFamily="18" charset="0"/>
              </a:rPr>
              <a:t>Acceptance tests can be automated. Database upgrades and downgrades can be automated too. Even network and ﬁrewall conﬁguration can be automated. </a:t>
            </a:r>
          </a:p>
          <a:p>
            <a:endParaRPr lang="en-US" dirty="0"/>
          </a:p>
        </p:txBody>
      </p:sp>
    </p:spTree>
    <p:extLst>
      <p:ext uri="{BB962C8B-B14F-4D97-AF65-F5344CB8AC3E}">
        <p14:creationId xmlns:p14="http://schemas.microsoft.com/office/powerpoint/2010/main" val="2276194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59741" y="841666"/>
            <a:ext cx="9520237" cy="3449638"/>
          </a:xfrm>
        </p:spPr>
        <p:txBody>
          <a:bodyPr>
            <a:normAutofit/>
          </a:bodyPr>
          <a:lstStyle/>
          <a:p>
            <a:pPr marL="0" indent="0">
              <a:buNone/>
            </a:pPr>
            <a:r>
              <a:rPr lang="en-US" sz="2800" dirty="0">
                <a:solidFill>
                  <a:srgbClr val="7030A0"/>
                </a:solidFill>
                <a:latin typeface="Times New Roman" panose="02020603050405020304" pitchFamily="18" charset="0"/>
                <a:cs typeface="Times New Roman" panose="02020603050405020304" pitchFamily="18" charset="0"/>
              </a:rPr>
              <a:t>Keep Everything in Version Control </a:t>
            </a:r>
          </a:p>
          <a:p>
            <a:r>
              <a:rPr lang="en-US" sz="2800" dirty="0">
                <a:latin typeface="Times New Roman" panose="02020603050405020304" pitchFamily="18" charset="0"/>
                <a:cs typeface="Times New Roman" panose="02020603050405020304" pitchFamily="18" charset="0"/>
              </a:rPr>
              <a:t>Everything you need to build, deploy, test, and release your application should be kept in some form of versioned storage</a:t>
            </a:r>
          </a:p>
          <a:p>
            <a:r>
              <a:rPr lang="en-US" sz="2800" dirty="0">
                <a:latin typeface="Times New Roman" panose="02020603050405020304" pitchFamily="18" charset="0"/>
                <a:cs typeface="Times New Roman" panose="02020603050405020304" pitchFamily="18" charset="0"/>
              </a:rPr>
              <a:t> All of this stuff should be version-controlled, and the relevant version should be identiﬁable for any given build</a:t>
            </a:r>
          </a:p>
        </p:txBody>
      </p:sp>
    </p:spTree>
    <p:extLst>
      <p:ext uri="{BB962C8B-B14F-4D97-AF65-F5344CB8AC3E}">
        <p14:creationId xmlns:p14="http://schemas.microsoft.com/office/powerpoint/2010/main" val="1937186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42963" y="883611"/>
            <a:ext cx="9520237" cy="3449638"/>
          </a:xfrm>
        </p:spPr>
        <p:txBody>
          <a:bodyPr/>
          <a:lstStyle/>
          <a:p>
            <a:endParaRPr lang="en-US" dirty="0"/>
          </a:p>
          <a:p>
            <a:r>
              <a:rPr lang="en-US" sz="2800" dirty="0">
                <a:latin typeface="Times New Roman" panose="02020603050405020304" pitchFamily="18" charset="0"/>
                <a:cs typeface="Times New Roman" panose="02020603050405020304" pitchFamily="18" charset="0"/>
              </a:rPr>
              <a:t>It should be possible for a new team member to sit down at a new workstation, check out the project’s revision control repository, and run a single command to build and deploy the application to any accessible environment</a:t>
            </a:r>
          </a:p>
        </p:txBody>
      </p:sp>
    </p:spTree>
    <p:extLst>
      <p:ext uri="{BB962C8B-B14F-4D97-AF65-F5344CB8AC3E}">
        <p14:creationId xmlns:p14="http://schemas.microsoft.com/office/powerpoint/2010/main" val="2079116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178523" y="1194004"/>
            <a:ext cx="9520237" cy="3449638"/>
          </a:xfrm>
        </p:spPr>
        <p:txBody>
          <a:bodyPr>
            <a:normAutofit fontScale="92500"/>
          </a:bodyPr>
          <a:lstStyle/>
          <a:p>
            <a:pPr marL="0" indent="0">
              <a:buNone/>
            </a:pPr>
            <a:r>
              <a:rPr lang="en-US" sz="2400" dirty="0">
                <a:solidFill>
                  <a:srgbClr val="FF0000"/>
                </a:solidFill>
              </a:rPr>
              <a:t>2.If It Hurts, Do It More Frequently, and Bring the Pain Forward </a:t>
            </a:r>
          </a:p>
          <a:p>
            <a:pPr marL="0" indent="0">
              <a:buNone/>
            </a:pPr>
            <a:endParaRPr lang="en-US" sz="2400" dirty="0">
              <a:solidFill>
                <a:srgbClr val="FF0000"/>
              </a:solidFill>
            </a:endParaRPr>
          </a:p>
          <a:p>
            <a:r>
              <a:rPr lang="en-US" sz="2800" dirty="0">
                <a:latin typeface="Times New Roman" panose="02020603050405020304" pitchFamily="18" charset="0"/>
                <a:cs typeface="Times New Roman" panose="02020603050405020304" pitchFamily="18" charset="0"/>
              </a:rPr>
              <a:t>If releasing software is painful, aim to release it every time somebody checks in a change that passes all the automated tests. </a:t>
            </a:r>
          </a:p>
          <a:p>
            <a:r>
              <a:rPr lang="en-US" sz="2800" dirty="0">
                <a:latin typeface="Times New Roman" panose="02020603050405020304" pitchFamily="18" charset="0"/>
                <a:cs typeface="Times New Roman" panose="02020603050405020304" pitchFamily="18" charset="0"/>
              </a:rPr>
              <a:t>If you can’t release it to real users upon every change, release it to a production-like environment upon every check-in. </a:t>
            </a:r>
          </a:p>
        </p:txBody>
      </p:sp>
    </p:spTree>
    <p:extLst>
      <p:ext uri="{BB962C8B-B14F-4D97-AF65-F5344CB8AC3E}">
        <p14:creationId xmlns:p14="http://schemas.microsoft.com/office/powerpoint/2010/main" val="10726698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335881" y="917167"/>
            <a:ext cx="9520238" cy="3449638"/>
          </a:xfrm>
        </p:spPr>
        <p:txBody>
          <a:bodyPr>
            <a:noAutofit/>
          </a:bodyPr>
          <a:lstStyle/>
          <a:p>
            <a:pPr marL="0" indent="0">
              <a:buNone/>
            </a:pPr>
            <a:r>
              <a:rPr lang="en-US" sz="2800" dirty="0">
                <a:solidFill>
                  <a:srgbClr val="FF0000"/>
                </a:solidFill>
                <a:latin typeface="Times New Roman" panose="02020603050405020304" pitchFamily="18" charset="0"/>
                <a:cs typeface="Times New Roman" panose="02020603050405020304" pitchFamily="18" charset="0"/>
              </a:rPr>
              <a:t>3.Build Quality In</a:t>
            </a:r>
          </a:p>
          <a:p>
            <a:r>
              <a:rPr lang="en-US" sz="2800" dirty="0">
                <a:latin typeface="Times New Roman" panose="02020603050405020304" pitchFamily="18" charset="0"/>
                <a:cs typeface="Times New Roman" panose="02020603050405020304" pitchFamily="18" charset="0"/>
              </a:rPr>
              <a:t>The earlier you catch defects, the cheaper they are to ﬁx. </a:t>
            </a:r>
          </a:p>
          <a:p>
            <a:r>
              <a:rPr lang="en-US" sz="2800" dirty="0">
                <a:latin typeface="Times New Roman" panose="02020603050405020304" pitchFamily="18" charset="0"/>
                <a:cs typeface="Times New Roman" panose="02020603050405020304" pitchFamily="18" charset="0"/>
              </a:rPr>
              <a:t>The techniques such as continuous integration,  automated testing, and automated deployment, are designed to catch defects as early in the delivery process as possible </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1869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237245" y="1135281"/>
            <a:ext cx="9520237" cy="3449638"/>
          </a:xfrm>
        </p:spPr>
        <p:txBody>
          <a:bodyPr>
            <a:normAutofit/>
          </a:bodyPr>
          <a:lstStyle/>
          <a:p>
            <a:r>
              <a:rPr lang="en-US" sz="2800" dirty="0">
                <a:latin typeface="Times New Roman" panose="02020603050405020304" pitchFamily="18" charset="0"/>
                <a:cs typeface="Times New Roman" panose="02020603050405020304" pitchFamily="18" charset="0"/>
              </a:rPr>
              <a:t>Delivery teams must be disciplined about ﬁxing defects as soon as they are found.</a:t>
            </a:r>
          </a:p>
          <a:p>
            <a:pPr marL="0" indent="0">
              <a:buNone/>
            </a:pPr>
            <a:r>
              <a:rPr lang="en-US" sz="2800" dirty="0">
                <a:latin typeface="Times New Roman" panose="02020603050405020304" pitchFamily="18" charset="0"/>
                <a:cs typeface="Times New Roman" panose="02020603050405020304" pitchFamily="18" charset="0"/>
              </a:rPr>
              <a:t>Two concepts to build quality in</a:t>
            </a:r>
          </a:p>
          <a:p>
            <a:r>
              <a:rPr lang="en-US" sz="2800" dirty="0">
                <a:latin typeface="Times New Roman" panose="02020603050405020304" pitchFamily="18" charset="0"/>
                <a:cs typeface="Times New Roman" panose="02020603050405020304" pitchFamily="18" charset="0"/>
              </a:rPr>
              <a:t> Firstly, testing is not a phase, and certainly not one to begin after the development phase. If testing is left to the end, it will be too late. There will be no time to ﬁx the defects. </a:t>
            </a:r>
          </a:p>
        </p:txBody>
      </p:sp>
    </p:spTree>
    <p:extLst>
      <p:ext uri="{BB962C8B-B14F-4D97-AF65-F5344CB8AC3E}">
        <p14:creationId xmlns:p14="http://schemas.microsoft.com/office/powerpoint/2010/main" val="1266063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926853" y="1311450"/>
            <a:ext cx="9520237" cy="3449638"/>
          </a:xfrm>
        </p:spPr>
        <p:txBody>
          <a:bodyPr/>
          <a:lstStyle/>
          <a:p>
            <a:r>
              <a:rPr lang="en-US" sz="2800" dirty="0">
                <a:latin typeface="Times New Roman" panose="02020603050405020304" pitchFamily="18" charset="0"/>
                <a:cs typeface="Times New Roman" panose="02020603050405020304" pitchFamily="18" charset="0"/>
              </a:rPr>
              <a:t>Secondly, testing is also not the domain, purely , of testers. Everybody on the delivery team is responsible for the quality of the application all the time.</a:t>
            </a:r>
          </a:p>
          <a:p>
            <a:endParaRPr lang="en-US" dirty="0"/>
          </a:p>
        </p:txBody>
      </p:sp>
    </p:spTree>
    <p:extLst>
      <p:ext uri="{BB962C8B-B14F-4D97-AF65-F5344CB8AC3E}">
        <p14:creationId xmlns:p14="http://schemas.microsoft.com/office/powerpoint/2010/main" val="3023005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002354" y="967501"/>
            <a:ext cx="9520237" cy="3449638"/>
          </a:xfrm>
        </p:spPr>
        <p:txBody>
          <a:bodyPr>
            <a:normAutofit/>
          </a:bodyPr>
          <a:lstStyle/>
          <a:p>
            <a:pPr marL="0" indent="0">
              <a:buNone/>
            </a:pPr>
            <a:r>
              <a:rPr lang="en-US" sz="2800" dirty="0">
                <a:solidFill>
                  <a:srgbClr val="FF0000"/>
                </a:solidFill>
                <a:latin typeface="Times New Roman" panose="02020603050405020304" pitchFamily="18" charset="0"/>
                <a:cs typeface="Times New Roman" panose="02020603050405020304" pitchFamily="18" charset="0"/>
              </a:rPr>
              <a:t>4.Done Means Released </a:t>
            </a:r>
          </a:p>
          <a:p>
            <a:r>
              <a:rPr lang="en-US" sz="2800" dirty="0">
                <a:latin typeface="Times New Roman" panose="02020603050405020304" pitchFamily="18" charset="0"/>
                <a:cs typeface="Times New Roman" panose="02020603050405020304" pitchFamily="18" charset="0"/>
              </a:rPr>
              <a:t>A functionality is “done” once it has been successfully, demonstrated to, and tried by, representatives of the user community, from a production-like environment.</a:t>
            </a:r>
          </a:p>
          <a:p>
            <a:r>
              <a:rPr lang="en-US" sz="2800" dirty="0">
                <a:latin typeface="Times New Roman" panose="02020603050405020304" pitchFamily="18" charset="0"/>
                <a:cs typeface="Times New Roman" panose="02020603050405020304" pitchFamily="18" charset="0"/>
              </a:rPr>
              <a:t>There is no “80% done.” Things are either done, or they are not. </a:t>
            </a:r>
          </a:p>
        </p:txBody>
      </p:sp>
    </p:spTree>
    <p:extLst>
      <p:ext uri="{BB962C8B-B14F-4D97-AF65-F5344CB8AC3E}">
        <p14:creationId xmlns:p14="http://schemas.microsoft.com/office/powerpoint/2010/main" val="282195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010742" y="975890"/>
            <a:ext cx="9520237" cy="3449638"/>
          </a:xfrm>
        </p:spPr>
        <p:txBody>
          <a:bodyPr>
            <a:normAutofit/>
          </a:bodyPr>
          <a:lstStyle/>
          <a:p>
            <a:pPr marL="0" indent="0">
              <a:buNone/>
            </a:pPr>
            <a:r>
              <a:rPr lang="en-US" sz="2800" dirty="0">
                <a:solidFill>
                  <a:srgbClr val="FF0000"/>
                </a:solidFill>
              </a:rPr>
              <a:t>5.Everybody Is Responsible for the Delivery Process</a:t>
            </a:r>
          </a:p>
          <a:p>
            <a:r>
              <a:rPr lang="en-US" sz="2800" dirty="0">
                <a:latin typeface="Times New Roman" panose="02020603050405020304" pitchFamily="18" charset="0"/>
                <a:cs typeface="Times New Roman" panose="02020603050405020304" pitchFamily="18" charset="0"/>
              </a:rPr>
              <a:t>Initiate a system where everyone can see, at a glance, the status of the application, its health, its various builds, which tests they have passed, and the state of the environments they can be deployed to .</a:t>
            </a:r>
          </a:p>
        </p:txBody>
      </p:sp>
    </p:spTree>
    <p:extLst>
      <p:ext uri="{BB962C8B-B14F-4D97-AF65-F5344CB8AC3E}">
        <p14:creationId xmlns:p14="http://schemas.microsoft.com/office/powerpoint/2010/main" val="3332444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Principles of Software Delivery</a:t>
            </a:r>
          </a:p>
        </p:txBody>
      </p:sp>
      <p:sp>
        <p:nvSpPr>
          <p:cNvPr id="3" name="Content Placeholder 2"/>
          <p:cNvSpPr>
            <a:spLocks noGrp="1"/>
          </p:cNvSpPr>
          <p:nvPr>
            <p:ph idx="1"/>
          </p:nvPr>
        </p:nvSpPr>
        <p:spPr/>
        <p:txBody>
          <a:bodyPr>
            <a:normAutofit/>
          </a:bodyPr>
          <a:lstStyle/>
          <a:p>
            <a:pPr marL="0" indent="0">
              <a:buNone/>
            </a:pPr>
            <a:r>
              <a:rPr lang="en-US" sz="2800" dirty="0">
                <a:solidFill>
                  <a:srgbClr val="FF0000"/>
                </a:solidFill>
              </a:rPr>
              <a:t>6.Continuous Improvement</a:t>
            </a:r>
          </a:p>
          <a:p>
            <a:r>
              <a:rPr lang="en-US" sz="2800" dirty="0">
                <a:solidFill>
                  <a:srgbClr val="FF0000"/>
                </a:solidFill>
              </a:rPr>
              <a:t> </a:t>
            </a:r>
            <a:r>
              <a:rPr lang="en-US" sz="2800" dirty="0"/>
              <a:t>The ﬁrst release of an application is just the ﬁrst stage in its life. </a:t>
            </a:r>
          </a:p>
          <a:p>
            <a:r>
              <a:rPr lang="en-US" sz="2800" dirty="0"/>
              <a:t>All applications evolve, and more releases will follow. It is important that your delivery process also evolves with it.</a:t>
            </a:r>
          </a:p>
        </p:txBody>
      </p:sp>
    </p:spTree>
    <p:extLst>
      <p:ext uri="{BB962C8B-B14F-4D97-AF65-F5344CB8AC3E}">
        <p14:creationId xmlns:p14="http://schemas.microsoft.com/office/powerpoint/2010/main" val="1642034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97622" y="874785"/>
            <a:ext cx="9520238" cy="3449638"/>
          </a:xfrm>
        </p:spPr>
        <p:txBody>
          <a:bodyPr>
            <a:normAutofit/>
          </a:bodyPr>
          <a:lstStyle/>
          <a:p>
            <a:r>
              <a:rPr lang="en-US" sz="2800" dirty="0">
                <a:latin typeface="Times New Roman" panose="02020603050405020304" pitchFamily="18" charset="0"/>
                <a:cs typeface="Times New Roman" panose="02020603050405020304" pitchFamily="18" charset="0"/>
              </a:rPr>
              <a:t>The whole team should regularly gather together and hold a retrospective(meeting) on the delivery process. </a:t>
            </a:r>
          </a:p>
          <a:p>
            <a:r>
              <a:rPr lang="en-US" sz="2800" dirty="0">
                <a:latin typeface="Times New Roman" panose="02020603050405020304" pitchFamily="18" charset="0"/>
                <a:cs typeface="Times New Roman" panose="02020603050405020304" pitchFamily="18" charset="0"/>
              </a:rPr>
              <a:t>This means that the team should reﬂect on what has gone well and what has gone badly, and discuss ideas on how to improve things. </a:t>
            </a:r>
          </a:p>
        </p:txBody>
      </p:sp>
    </p:spTree>
    <p:extLst>
      <p:ext uri="{BB962C8B-B14F-4D97-AF65-F5344CB8AC3E}">
        <p14:creationId xmlns:p14="http://schemas.microsoft.com/office/powerpoint/2010/main" val="4133646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262413" y="1219171"/>
            <a:ext cx="9520237" cy="3449638"/>
          </a:xfrm>
        </p:spPr>
        <p:txBody>
          <a:bodyPr>
            <a:normAutofit/>
          </a:bodyPr>
          <a:lstStyle/>
          <a:p>
            <a:r>
              <a:rPr lang="en-US" sz="2800" dirty="0"/>
              <a:t>Somebody should be nominated to own each idea and ensure that it is acted upon. Then, the next time that the team gathers, they should report back on what happened.</a:t>
            </a:r>
          </a:p>
          <a:p>
            <a:r>
              <a:rPr lang="en-US" sz="2800" dirty="0"/>
              <a:t> This is known as the </a:t>
            </a:r>
            <a:r>
              <a:rPr lang="en-US" sz="2800" dirty="0">
                <a:solidFill>
                  <a:srgbClr val="00B050"/>
                </a:solidFill>
              </a:rPr>
              <a:t>Deming cycle: plan, do, study, act. </a:t>
            </a:r>
          </a:p>
        </p:txBody>
      </p:sp>
    </p:spTree>
    <p:extLst>
      <p:ext uri="{BB962C8B-B14F-4D97-AF65-F5344CB8AC3E}">
        <p14:creationId xmlns:p14="http://schemas.microsoft.com/office/powerpoint/2010/main" val="3537796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5921" y="276013"/>
            <a:ext cx="9520158" cy="1049235"/>
          </a:xfrm>
        </p:spPr>
        <p:txBody>
          <a:bodyPr>
            <a:normAutofit/>
          </a:bodyPr>
          <a:lstStyle/>
          <a:p>
            <a:pPr marL="1028700" indent="-1028700">
              <a:buFont typeface="+mj-lt"/>
              <a:buAutoNum type="romanUcPeriod" startAt="2"/>
            </a:pPr>
            <a:r>
              <a:rPr lang="en-US" sz="4800" b="1" u="sng" dirty="0"/>
              <a:t>Conﬁguration management </a:t>
            </a:r>
          </a:p>
        </p:txBody>
      </p:sp>
      <p:sp>
        <p:nvSpPr>
          <p:cNvPr id="3" name="Content Placeholder 2"/>
          <p:cNvSpPr>
            <a:spLocks noGrp="1"/>
          </p:cNvSpPr>
          <p:nvPr>
            <p:ph idx="1"/>
          </p:nvPr>
        </p:nvSpPr>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Conﬁguration management refers to the process by which all artifacts relevant to your project, and the relationships between them, are stored, retrieved, uniquely identiﬁed, and modiﬁed. </a:t>
            </a:r>
          </a:p>
        </p:txBody>
      </p:sp>
    </p:spTree>
    <p:extLst>
      <p:ext uri="{BB962C8B-B14F-4D97-AF65-F5344CB8AC3E}">
        <p14:creationId xmlns:p14="http://schemas.microsoft.com/office/powerpoint/2010/main" val="5366050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335881" y="959112"/>
            <a:ext cx="9520237" cy="3449638"/>
          </a:xfrm>
        </p:spPr>
        <p:txBody>
          <a:bodyPr/>
          <a:lstStyle/>
          <a:p>
            <a:r>
              <a:rPr lang="en-US" sz="2400" b="1" dirty="0"/>
              <a:t>Using Version Control</a:t>
            </a:r>
          </a:p>
          <a:p>
            <a:r>
              <a:rPr lang="en-US" sz="2400" b="1" dirty="0"/>
              <a:t>Managing dependencies</a:t>
            </a:r>
          </a:p>
          <a:p>
            <a:r>
              <a:rPr lang="en-US" sz="2400" b="1" dirty="0"/>
              <a:t>Managing  Software Configuration</a:t>
            </a:r>
          </a:p>
          <a:p>
            <a:endParaRPr lang="en-US" b="1" dirty="0"/>
          </a:p>
          <a:p>
            <a:endParaRPr lang="en-US" b="1" dirty="0"/>
          </a:p>
          <a:p>
            <a:endParaRPr lang="en-US" b="1" dirty="0"/>
          </a:p>
        </p:txBody>
      </p:sp>
    </p:spTree>
    <p:extLst>
      <p:ext uri="{BB962C8B-B14F-4D97-AF65-F5344CB8AC3E}">
        <p14:creationId xmlns:p14="http://schemas.microsoft.com/office/powerpoint/2010/main" val="376313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5921" y="485737"/>
            <a:ext cx="9520158" cy="1049235"/>
          </a:xfrm>
        </p:spPr>
        <p:txBody>
          <a:bodyPr/>
          <a:lstStyle/>
          <a:p>
            <a:r>
              <a:rPr lang="en-US" b="1" dirty="0">
                <a:solidFill>
                  <a:srgbClr val="FF0000"/>
                </a:solidFill>
              </a:rPr>
              <a:t> Using Version Control</a:t>
            </a:r>
            <a:endParaRPr lang="en-US" dirty="0">
              <a:solidFill>
                <a:srgbClr val="FF0000"/>
              </a:solidFill>
            </a:endParaRPr>
          </a:p>
        </p:txBody>
      </p:sp>
      <p:sp>
        <p:nvSpPr>
          <p:cNvPr id="3" name="Content Placeholder 2"/>
          <p:cNvSpPr>
            <a:spLocks noGrp="1"/>
          </p:cNvSpPr>
          <p:nvPr>
            <p:ph idx="1"/>
          </p:nvPr>
        </p:nvSpPr>
        <p:spPr>
          <a:xfrm>
            <a:off x="1335921" y="1881508"/>
            <a:ext cx="9520158" cy="3450613"/>
          </a:xfrm>
        </p:spPr>
        <p:txBody>
          <a:bodyPr>
            <a:noAutofit/>
          </a:bodyPr>
          <a:lstStyle/>
          <a:p>
            <a:pPr marL="0" indent="0">
              <a:buNone/>
            </a:pPr>
            <a:r>
              <a:rPr lang="en-US" sz="2800" dirty="0">
                <a:latin typeface="Times New Roman" panose="02020603050405020304" pitchFamily="18" charset="0"/>
                <a:cs typeface="Times New Roman" panose="02020603050405020304" pitchFamily="18" charset="0"/>
              </a:rPr>
              <a:t>Version control systems, also known as source control, source code management systems, or revision control systems, are a mechanism </a:t>
            </a:r>
          </a:p>
          <a:p>
            <a:pPr marL="0" indent="0">
              <a:buNone/>
            </a:pPr>
            <a:r>
              <a:rPr lang="en-US" sz="2800" dirty="0">
                <a:latin typeface="Times New Roman" panose="02020603050405020304" pitchFamily="18" charset="0"/>
                <a:cs typeface="Times New Roman" panose="02020603050405020304" pitchFamily="18" charset="0"/>
              </a:rPr>
              <a:t>1. For keeping multiple versions of your files, so that when you modify a file you can still access the previous revisions.</a:t>
            </a:r>
          </a:p>
          <a:p>
            <a:pPr marL="0" indent="0">
              <a:buNone/>
            </a:pPr>
            <a:r>
              <a:rPr lang="en-US" sz="2800" dirty="0">
                <a:latin typeface="Times New Roman" panose="02020603050405020304" pitchFamily="18" charset="0"/>
                <a:cs typeface="Times New Roman" panose="02020603050405020304" pitchFamily="18" charset="0"/>
              </a:rPr>
              <a:t>2.Through which people involved in software delivery collaborate.</a:t>
            </a:r>
          </a:p>
        </p:txBody>
      </p:sp>
    </p:spTree>
    <p:extLst>
      <p:ext uri="{BB962C8B-B14F-4D97-AF65-F5344CB8AC3E}">
        <p14:creationId xmlns:p14="http://schemas.microsoft.com/office/powerpoint/2010/main" val="12607567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335881" y="1101725"/>
            <a:ext cx="9520237" cy="3449638"/>
          </a:xfrm>
        </p:spPr>
        <p:txBody>
          <a:bodyPr>
            <a:normAutofit/>
          </a:bodyPr>
          <a:lstStyle/>
          <a:p>
            <a:r>
              <a:rPr lang="en-US" sz="2800" dirty="0">
                <a:latin typeface="Times New Roman" panose="02020603050405020304" pitchFamily="18" charset="0"/>
                <a:cs typeface="Times New Roman" panose="02020603050405020304" pitchFamily="18" charset="0"/>
              </a:rPr>
              <a:t>The first popular version control system was called SCCS (Source Code Control System)in1970s.</a:t>
            </a:r>
          </a:p>
          <a:p>
            <a:r>
              <a:rPr lang="en-US" sz="2800" dirty="0">
                <a:latin typeface="Times New Roman" panose="02020603050405020304" pitchFamily="18" charset="0"/>
                <a:cs typeface="Times New Roman" panose="02020603050405020304" pitchFamily="18" charset="0"/>
              </a:rPr>
              <a:t> This was superseded by RCS, the Revision Control System, and later CVS, Concurrent Versions System</a:t>
            </a:r>
          </a:p>
          <a:p>
            <a:r>
              <a:rPr lang="en-US" sz="2800" dirty="0"/>
              <a:t>Examples of Open Source Version Control Systems are Subversion, Mercurial, or Git </a:t>
            </a:r>
            <a:r>
              <a:rPr lang="en-US" sz="2800" dirty="0" err="1"/>
              <a:t>etc</a:t>
            </a:r>
            <a:endParaRPr lang="en-US" sz="2800" dirty="0"/>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72123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918464" y="1017835"/>
            <a:ext cx="9520237" cy="3449638"/>
          </a:xfrm>
        </p:spPr>
        <p:txBody>
          <a:bodyPr>
            <a:normAutofit/>
          </a:bodyPr>
          <a:lstStyle/>
          <a:p>
            <a:pPr marL="0" indent="0">
              <a:buNone/>
            </a:pPr>
            <a:r>
              <a:rPr lang="en-US" sz="2800" b="1" i="1" dirty="0">
                <a:solidFill>
                  <a:srgbClr val="7030A0"/>
                </a:solidFill>
                <a:latin typeface="Times New Roman" panose="02020603050405020304" pitchFamily="18" charset="0"/>
                <a:cs typeface="Times New Roman" panose="02020603050405020304" pitchFamily="18" charset="0"/>
              </a:rPr>
              <a:t>Keep Absolutely Everything in Version Control</a:t>
            </a:r>
          </a:p>
          <a:p>
            <a:r>
              <a:rPr lang="en-US" sz="2800" dirty="0">
                <a:latin typeface="Times New Roman" panose="02020603050405020304" pitchFamily="18" charset="0"/>
                <a:cs typeface="Times New Roman" panose="02020603050405020304" pitchFamily="18" charset="0"/>
              </a:rPr>
              <a:t>we use the term version control in preference to source control because version control isn’t just for source code.</a:t>
            </a:r>
          </a:p>
          <a:p>
            <a:r>
              <a:rPr lang="en-US" sz="2800" dirty="0">
                <a:latin typeface="Times New Roman" panose="02020603050405020304" pitchFamily="18" charset="0"/>
                <a:cs typeface="Times New Roman" panose="02020603050405020304" pitchFamily="18" charset="0"/>
              </a:rPr>
              <a:t>Every single artifact related to the creation of your software should be under version control.</a:t>
            </a:r>
          </a:p>
        </p:txBody>
      </p:sp>
    </p:spTree>
    <p:extLst>
      <p:ext uri="{BB962C8B-B14F-4D97-AF65-F5344CB8AC3E}">
        <p14:creationId xmlns:p14="http://schemas.microsoft.com/office/powerpoint/2010/main" val="13176054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926853" y="732609"/>
            <a:ext cx="9520237" cy="3449638"/>
          </a:xfrm>
        </p:spPr>
        <p:txBody>
          <a:bodyPr>
            <a:normAutofit fontScale="92500"/>
          </a:bodyPr>
          <a:lstStyle/>
          <a:p>
            <a:endParaRPr lang="en-US" sz="2800" b="1" i="1" dirty="0">
              <a:solidFill>
                <a:srgbClr val="0070C0"/>
              </a:solidFill>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Developers should use it not only  for source code, but also for tests, database scripts, build and deployment scripts, documentation, libraries and configuration files for your application, your compiler and collection of tools, and so on—so that a new member of your team can start working from scratch</a:t>
            </a:r>
          </a:p>
        </p:txBody>
      </p:sp>
    </p:spTree>
    <p:extLst>
      <p:ext uri="{BB962C8B-B14F-4D97-AF65-F5344CB8AC3E}">
        <p14:creationId xmlns:p14="http://schemas.microsoft.com/office/powerpoint/2010/main" val="6956817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48012" y="136991"/>
            <a:ext cx="10331173" cy="5760469"/>
          </a:xfrm>
        </p:spPr>
        <p:txBody>
          <a:bodyPr>
            <a:normAutofit fontScale="92500" lnSpcReduction="10000"/>
          </a:bodyPr>
          <a:lstStyle/>
          <a:p>
            <a:r>
              <a:rPr lang="en-US" sz="2800" dirty="0">
                <a:latin typeface="Times New Roman" panose="02020603050405020304" pitchFamily="18" charset="0"/>
                <a:cs typeface="Times New Roman" panose="02020603050405020304" pitchFamily="18" charset="0"/>
              </a:rPr>
              <a:t>It is also important to store all the information required to re-create the testing and production environments that your application runs on.</a:t>
            </a:r>
          </a:p>
          <a:p>
            <a:r>
              <a:rPr lang="en-US" sz="2800" dirty="0">
                <a:latin typeface="Times New Roman" panose="02020603050405020304" pitchFamily="18" charset="0"/>
                <a:cs typeface="Times New Roman" panose="02020603050405020304" pitchFamily="18" charset="0"/>
              </a:rPr>
              <a:t>The objective is to have everything that can possibly change at any point in the life of the project stored in a controlled manner</a:t>
            </a:r>
          </a:p>
          <a:p>
            <a:r>
              <a:rPr lang="en-US" sz="2800" dirty="0">
                <a:latin typeface="Times New Roman" panose="02020603050405020304" pitchFamily="18" charset="0"/>
                <a:cs typeface="Times New Roman" panose="02020603050405020304" pitchFamily="18" charset="0"/>
              </a:rPr>
              <a:t>Testers should keep their test scripts and procedures in version control. </a:t>
            </a:r>
          </a:p>
          <a:p>
            <a:r>
              <a:rPr lang="en-US" sz="2800" dirty="0">
                <a:latin typeface="Times New Roman" panose="02020603050405020304" pitchFamily="18" charset="0"/>
                <a:cs typeface="Times New Roman" panose="02020603050405020304" pitchFamily="18" charset="0"/>
              </a:rPr>
              <a:t>Project managers should save their release plans, progress charts, and risk logs here. </a:t>
            </a:r>
          </a:p>
          <a:p>
            <a:r>
              <a:rPr lang="en-US" sz="2800" dirty="0">
                <a:latin typeface="Times New Roman" panose="02020603050405020304" pitchFamily="18" charset="0"/>
                <a:cs typeface="Times New Roman" panose="02020603050405020304" pitchFamily="18" charset="0"/>
              </a:rPr>
              <a:t>In short, every member of the team should store any document or file related to the project in version control.</a:t>
            </a:r>
          </a:p>
          <a:p>
            <a:r>
              <a:rPr lang="en-US" sz="2800" dirty="0">
                <a:latin typeface="Times New Roman" panose="02020603050405020304" pitchFamily="18" charset="0"/>
                <a:cs typeface="Times New Roman" panose="02020603050405020304" pitchFamily="18" charset="0"/>
              </a:rPr>
              <a:t>There is no way for a system under configuration management to have errors added at a later stage in the process.</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999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87230" y="447384"/>
            <a:ext cx="10528947" cy="5341020"/>
          </a:xfrm>
        </p:spPr>
        <p:txBody>
          <a:bodyPr>
            <a:normAutofit lnSpcReduction="10000"/>
          </a:bodyPr>
          <a:lstStyle/>
          <a:p>
            <a:pPr marL="0" indent="0">
              <a:buNone/>
            </a:pPr>
            <a:r>
              <a:rPr lang="en-US" sz="2800" b="1" i="1" dirty="0">
                <a:solidFill>
                  <a:srgbClr val="0070C0"/>
                </a:solidFill>
              </a:rPr>
              <a:t>   </a:t>
            </a:r>
            <a:r>
              <a:rPr lang="en-US" sz="3000" b="1" i="1" dirty="0">
                <a:solidFill>
                  <a:srgbClr val="7030A0"/>
                </a:solidFill>
              </a:rPr>
              <a:t>Check In Regularly to Trunk</a:t>
            </a:r>
            <a:endParaRPr lang="en-US" sz="2800" b="1" i="1" dirty="0">
              <a:solidFill>
                <a:srgbClr val="7030A0"/>
              </a:solidFill>
            </a:endParaRPr>
          </a:p>
          <a:p>
            <a:r>
              <a:rPr lang="en-US" sz="2800" dirty="0">
                <a:latin typeface="Times New Roman" panose="02020603050405020304" pitchFamily="18" charset="0"/>
                <a:cs typeface="Times New Roman" panose="02020603050405020304" pitchFamily="18" charset="0"/>
              </a:rPr>
              <a:t>Once you check your changes into version control, they become public,  available to everybody else on the team.</a:t>
            </a:r>
          </a:p>
          <a:p>
            <a:r>
              <a:rPr lang="en-US" sz="2800" dirty="0">
                <a:latin typeface="Times New Roman" panose="02020603050405020304" pitchFamily="18" charset="0"/>
                <a:cs typeface="Times New Roman" panose="02020603050405020304" pitchFamily="18" charset="0"/>
              </a:rPr>
              <a:t> Further, if you are using continuous integration, your changes are not only visible to the other developers on the team; you have just given birth to a build that could potentially end up in acceptance testing or even production.</a:t>
            </a:r>
          </a:p>
          <a:p>
            <a:r>
              <a:rPr lang="en-US" sz="2800" dirty="0">
                <a:latin typeface="Times New Roman" panose="02020603050405020304" pitchFamily="18" charset="0"/>
                <a:cs typeface="Times New Roman" panose="02020603050405020304" pitchFamily="18" charset="0"/>
              </a:rPr>
              <a:t>Since checking in is a form of publication, it is important to be sure that your work, whatever it may be, is ready for the level of publicity that a check-in implies.</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96233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57069" y="246048"/>
            <a:ext cx="10658344" cy="5735302"/>
          </a:xfrm>
        </p:spPr>
        <p:txBody>
          <a:bodyPr>
            <a:normAutofit/>
          </a:bodyPr>
          <a:lstStyle/>
          <a:p>
            <a:r>
              <a:rPr lang="en-US" sz="2800" dirty="0">
                <a:latin typeface="Times New Roman" panose="02020603050405020304" pitchFamily="18" charset="0"/>
                <a:cs typeface="Times New Roman" panose="02020603050405020304" pitchFamily="18" charset="0"/>
              </a:rPr>
              <a:t>If a developer is in the middle of working on a complex part of the system, they won’t want to commit their code until it is finished; they want to feel confident that their code is in a good state and won’t adversely affect other functions of the system.</a:t>
            </a:r>
          </a:p>
          <a:p>
            <a:r>
              <a:rPr lang="en-US" sz="2800" dirty="0">
                <a:latin typeface="Times New Roman" panose="02020603050405020304" pitchFamily="18" charset="0"/>
                <a:cs typeface="Times New Roman" panose="02020603050405020304" pitchFamily="18" charset="0"/>
              </a:rPr>
              <a:t>In some teams, this can lead to days or even weeks between check-ins, which is problematic.</a:t>
            </a:r>
          </a:p>
          <a:p>
            <a:r>
              <a:rPr lang="en-US" sz="2800" dirty="0">
                <a:latin typeface="Times New Roman" panose="02020603050405020304" pitchFamily="18" charset="0"/>
                <a:cs typeface="Times New Roman" panose="02020603050405020304" pitchFamily="18" charset="0"/>
              </a:rPr>
              <a:t>The benefits of version control are enhanced when you commit regularly.</a:t>
            </a:r>
          </a:p>
          <a:p>
            <a:r>
              <a:rPr lang="en-US" sz="2800" dirty="0">
                <a:latin typeface="Times New Roman" panose="02020603050405020304" pitchFamily="18" charset="0"/>
                <a:cs typeface="Times New Roman" panose="02020603050405020304" pitchFamily="18" charset="0"/>
              </a:rPr>
              <a:t>It is impossible to safely refactor an application unless everybody commits frequently to mainline—the merges become too complex</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62169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901686" y="866833"/>
            <a:ext cx="9520237" cy="3449638"/>
          </a:xfrm>
        </p:spPr>
        <p:txBody>
          <a:bodyPr>
            <a:normAutofit/>
          </a:bodyPr>
          <a:lstStyle/>
          <a:p>
            <a:r>
              <a:rPr lang="en-US" sz="2800" dirty="0">
                <a:latin typeface="Times New Roman" panose="02020603050405020304" pitchFamily="18" charset="0"/>
                <a:cs typeface="Times New Roman" panose="02020603050405020304" pitchFamily="18" charset="0"/>
              </a:rPr>
              <a:t>A solution that some people use to resolve this dilemma is to create a separate branch within the version control system for new functionality.</a:t>
            </a:r>
          </a:p>
          <a:p>
            <a:r>
              <a:rPr lang="en-US" sz="2800" dirty="0">
                <a:latin typeface="Times New Roman" panose="02020603050405020304" pitchFamily="18" charset="0"/>
                <a:cs typeface="Times New Roman" panose="02020603050405020304" pitchFamily="18" charset="0"/>
              </a:rPr>
              <a:t>At some point, when the changes are deemed satisfactory, they will be merged into the main development branch.</a:t>
            </a:r>
          </a:p>
        </p:txBody>
      </p:sp>
    </p:spTree>
    <p:extLst>
      <p:ext uri="{BB962C8B-B14F-4D97-AF65-F5344CB8AC3E}">
        <p14:creationId xmlns:p14="http://schemas.microsoft.com/office/powerpoint/2010/main" val="38520660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99014" y="237659"/>
            <a:ext cx="11119738" cy="5626246"/>
          </a:xfrm>
        </p:spPr>
        <p:txBody>
          <a:bodyPr>
            <a:normAutofit/>
          </a:bodyPr>
          <a:lstStyle/>
          <a:p>
            <a:pPr marL="0" indent="0">
              <a:buNone/>
            </a:pPr>
            <a:r>
              <a:rPr lang="en-US" sz="2800" dirty="0">
                <a:solidFill>
                  <a:schemeClr val="tx2">
                    <a:lumMod val="50000"/>
                  </a:schemeClr>
                </a:solidFill>
                <a:latin typeface="Times New Roman" panose="02020603050405020304" pitchFamily="18" charset="0"/>
                <a:cs typeface="Times New Roman" panose="02020603050405020304" pitchFamily="18" charset="0"/>
              </a:rPr>
              <a:t>There are a few problems with this approach(creating new branch)</a:t>
            </a:r>
          </a:p>
          <a:p>
            <a:pPr marL="514350" indent="-514350">
              <a:buAutoNum type="arabicPeriod"/>
            </a:pPr>
            <a:r>
              <a:rPr lang="en-US" sz="2800" dirty="0">
                <a:latin typeface="Times New Roman" panose="02020603050405020304" pitchFamily="18" charset="0"/>
                <a:cs typeface="Times New Roman" panose="02020603050405020304" pitchFamily="18" charset="0"/>
              </a:rPr>
              <a:t>It is antithetical to continuous integration, since the creation of a branch defers the integration of new functionality, and integration problems are only found when the branch is merged</a:t>
            </a:r>
            <a:r>
              <a:rPr lang="en-US" sz="2800" dirty="0"/>
              <a:t>.</a:t>
            </a:r>
          </a:p>
          <a:p>
            <a:pPr marL="514350" indent="-514350">
              <a:buFont typeface="Arial" panose="020B0604020202020204" pitchFamily="34" charset="0"/>
              <a:buAutoNum type="arabicPeriod"/>
            </a:pPr>
            <a:r>
              <a:rPr lang="en-US" sz="2800" dirty="0">
                <a:latin typeface="Times New Roman" panose="02020603050405020304" pitchFamily="18" charset="0"/>
                <a:cs typeface="Times New Roman" panose="02020603050405020304" pitchFamily="18" charset="0"/>
              </a:rPr>
              <a:t> If several developers create branches, the problem increases exponentially, and the merge process can become absurdly complex.</a:t>
            </a:r>
          </a:p>
          <a:p>
            <a:pPr marL="514350" indent="-514350">
              <a:buFont typeface="Arial" panose="020B0604020202020204" pitchFamily="34" charset="0"/>
              <a:buAutoNum type="arabicPeriod"/>
            </a:pPr>
            <a:r>
              <a:rPr lang="en-US" sz="2800" dirty="0">
                <a:latin typeface="Times New Roman" panose="02020603050405020304" pitchFamily="18" charset="0"/>
                <a:cs typeface="Times New Roman" panose="02020603050405020304" pitchFamily="18" charset="0"/>
              </a:rPr>
              <a:t>Although there are some great tools for automated merging, these don’t solve semantic conflicts, such as somebody renaming a method in one branch while somebody else adds a new call to that method in another branch</a:t>
            </a:r>
          </a:p>
          <a:p>
            <a:pPr marL="514350" indent="-514350">
              <a:buAutoNum type="arabicPeriod"/>
            </a:pPr>
            <a:endParaRPr lang="en-US" sz="2800" dirty="0"/>
          </a:p>
        </p:txBody>
      </p:sp>
    </p:spTree>
    <p:extLst>
      <p:ext uri="{BB962C8B-B14F-4D97-AF65-F5344CB8AC3E}">
        <p14:creationId xmlns:p14="http://schemas.microsoft.com/office/powerpoint/2010/main" val="1919258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41628" y="598385"/>
            <a:ext cx="9520237" cy="3449638"/>
          </a:xfrm>
        </p:spPr>
        <p:txBody>
          <a:bodyPr/>
          <a:lstStyle/>
          <a:p>
            <a:pPr marL="0" indent="0">
              <a:buNone/>
            </a:pPr>
            <a:r>
              <a:rPr lang="en-US" sz="2400" b="1" i="1" dirty="0">
                <a:solidFill>
                  <a:srgbClr val="7030A0"/>
                </a:solidFill>
              </a:rPr>
              <a:t>Use Meaningful Commit Messages</a:t>
            </a:r>
          </a:p>
          <a:p>
            <a:r>
              <a:rPr lang="en-US" sz="2400" dirty="0">
                <a:latin typeface="Times New Roman" panose="02020603050405020304" pitchFamily="18" charset="0"/>
                <a:cs typeface="Times New Roman" panose="02020603050405020304" pitchFamily="18" charset="0"/>
              </a:rPr>
              <a:t>Every version control system has the facility to add a description to your commit.</a:t>
            </a:r>
          </a:p>
          <a:p>
            <a:r>
              <a:rPr lang="en-US" sz="2400" dirty="0">
                <a:latin typeface="Times New Roman" panose="02020603050405020304" pitchFamily="18" charset="0"/>
                <a:cs typeface="Times New Roman" panose="02020603050405020304" pitchFamily="18" charset="0"/>
              </a:rPr>
              <a:t>One style used is a multiparagraph commit message in which the first paragraph is a summary and the following paragraphs add more detail</a:t>
            </a:r>
          </a:p>
        </p:txBody>
      </p:sp>
    </p:spTree>
    <p:extLst>
      <p:ext uri="{BB962C8B-B14F-4D97-AF65-F5344CB8AC3E}">
        <p14:creationId xmlns:p14="http://schemas.microsoft.com/office/powerpoint/2010/main" val="16583906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4696" y="342420"/>
            <a:ext cx="9520158" cy="1049235"/>
          </a:xfrm>
        </p:spPr>
        <p:txBody>
          <a:bodyPr/>
          <a:lstStyle/>
          <a:p>
            <a:r>
              <a:rPr lang="en-US" dirty="0">
                <a:solidFill>
                  <a:srgbClr val="FF0000"/>
                </a:solidFill>
              </a:rPr>
              <a:t> Dependencies</a:t>
            </a:r>
          </a:p>
        </p:txBody>
      </p:sp>
      <p:sp>
        <p:nvSpPr>
          <p:cNvPr id="3" name="Content Placeholder 2"/>
          <p:cNvSpPr>
            <a:spLocks noGrp="1"/>
          </p:cNvSpPr>
          <p:nvPr>
            <p:ph idx="1"/>
          </p:nvPr>
        </p:nvSpPr>
        <p:spPr>
          <a:xfrm>
            <a:off x="1752810" y="1638227"/>
            <a:ext cx="9520158" cy="3450613"/>
          </a:xfrm>
        </p:spPr>
        <p:txBody>
          <a:bodyPr>
            <a:normAutofit/>
          </a:bodyPr>
          <a:lstStyle/>
          <a:p>
            <a:r>
              <a:rPr lang="en-US" sz="2800" dirty="0">
                <a:latin typeface="Times New Roman" panose="02020603050405020304" pitchFamily="18" charset="0"/>
                <a:cs typeface="Times New Roman" panose="02020603050405020304" pitchFamily="18" charset="0"/>
              </a:rPr>
              <a:t>The most common external dependencies within your application are the third party libraries it uses.</a:t>
            </a:r>
          </a:p>
          <a:p>
            <a:pPr>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Managing External Libraries</a:t>
            </a:r>
          </a:p>
          <a:p>
            <a:pPr>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Managing Components</a:t>
            </a:r>
          </a:p>
        </p:txBody>
      </p:sp>
    </p:spTree>
    <p:extLst>
      <p:ext uri="{BB962C8B-B14F-4D97-AF65-F5344CB8AC3E}">
        <p14:creationId xmlns:p14="http://schemas.microsoft.com/office/powerpoint/2010/main" val="2898814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57737" y="1202393"/>
            <a:ext cx="9520237" cy="3449638"/>
          </a:xfrm>
        </p:spPr>
        <p:txBody>
          <a:bodyPr>
            <a:normAutofit/>
          </a:bodyPr>
          <a:lstStyle/>
          <a:p>
            <a:r>
              <a:rPr lang="en-US" sz="2800" dirty="0">
                <a:latin typeface="Times New Roman" panose="02020603050405020304" pitchFamily="18" charset="0"/>
                <a:ea typeface="Tahoma" panose="020B0604030504040204" pitchFamily="34" charset="0"/>
                <a:cs typeface="Times New Roman" panose="02020603050405020304" pitchFamily="18" charset="0"/>
              </a:rPr>
              <a:t>Libraries are typically deployed in the form of binary ﬁles, are never changed by your application’s development team, and are updated very infrequently.</a:t>
            </a:r>
          </a:p>
          <a:p>
            <a:r>
              <a:rPr lang="en-US" sz="2800" dirty="0">
                <a:latin typeface="Times New Roman" panose="02020603050405020304" pitchFamily="18" charset="0"/>
                <a:ea typeface="Tahoma" panose="020B0604030504040204" pitchFamily="34" charset="0"/>
                <a:cs typeface="Times New Roman" panose="02020603050405020304" pitchFamily="18" charset="0"/>
              </a:rPr>
              <a:t>Components and modules are typically under active development by other teams and change quite frequently</a:t>
            </a:r>
          </a:p>
        </p:txBody>
      </p:sp>
    </p:spTree>
    <p:extLst>
      <p:ext uri="{BB962C8B-B14F-4D97-AF65-F5344CB8AC3E}">
        <p14:creationId xmlns:p14="http://schemas.microsoft.com/office/powerpoint/2010/main" val="12334132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74515" y="170546"/>
            <a:ext cx="10641566" cy="5777247"/>
          </a:xfrm>
        </p:spPr>
        <p:txBody>
          <a:bodyPr>
            <a:normAutofit/>
          </a:bodyPr>
          <a:lstStyle/>
          <a:p>
            <a:pPr marL="0" indent="0">
              <a:buNone/>
            </a:pPr>
            <a:r>
              <a:rPr lang="en-US" sz="2800" dirty="0">
                <a:solidFill>
                  <a:srgbClr val="7030A0"/>
                </a:solidFill>
                <a:latin typeface="Times New Roman" panose="02020603050405020304" pitchFamily="18" charset="0"/>
                <a:cs typeface="Times New Roman" panose="02020603050405020304" pitchFamily="18" charset="0"/>
              </a:rPr>
              <a:t>Managing External Libraries</a:t>
            </a:r>
          </a:p>
          <a:p>
            <a:r>
              <a:rPr lang="en-US" sz="2400" dirty="0">
                <a:latin typeface="Times New Roman" panose="02020603050405020304" pitchFamily="18" charset="0"/>
                <a:cs typeface="Times New Roman" panose="02020603050405020304" pitchFamily="18" charset="0"/>
              </a:rPr>
              <a:t>Maven, a build tool for Java, allows you to specify the JARs your application depends on and downloads them from repositories on the Internet .</a:t>
            </a:r>
          </a:p>
          <a:p>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JAR</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J</a:t>
            </a:r>
            <a:r>
              <a:rPr lang="en-US" sz="2400" dirty="0">
                <a:latin typeface="Times New Roman" panose="02020603050405020304" pitchFamily="18" charset="0"/>
                <a:cs typeface="Times New Roman" panose="02020603050405020304" pitchFamily="18" charset="0"/>
              </a:rPr>
              <a:t>ava </a:t>
            </a:r>
            <a:r>
              <a:rPr lang="en-US" sz="2400" b="1" dirty="0" err="1">
                <a:latin typeface="Times New Roman" panose="02020603050405020304" pitchFamily="18" charset="0"/>
                <a:cs typeface="Times New Roman" panose="02020603050405020304" pitchFamily="18" charset="0"/>
              </a:rPr>
              <a:t>AR</a:t>
            </a:r>
            <a:r>
              <a:rPr lang="en-US" sz="2400" dirty="0" err="1">
                <a:latin typeface="Times New Roman" panose="02020603050405020304" pitchFamily="18" charset="0"/>
                <a:cs typeface="Times New Roman" panose="02020603050405020304" pitchFamily="18" charset="0"/>
              </a:rPr>
              <a:t>chive</a:t>
            </a:r>
            <a:r>
              <a:rPr lang="en-US" sz="2400" dirty="0">
                <a:latin typeface="Times New Roman" panose="02020603050405020304" pitchFamily="18" charset="0"/>
                <a:cs typeface="Times New Roman" panose="02020603050405020304" pitchFamily="18" charset="0"/>
              </a:rPr>
              <a:t>) is a package file format typically used to aggregate many Java class files and associated metadata and resources (text, images, etc.) into one file for distribution.</a:t>
            </a:r>
          </a:p>
          <a:p>
            <a:r>
              <a:rPr lang="en-US" sz="2400" b="1" dirty="0">
                <a:latin typeface="Times New Roman" panose="02020603050405020304" pitchFamily="18" charset="0"/>
                <a:cs typeface="Times New Roman" panose="02020603050405020304" pitchFamily="18" charset="0"/>
              </a:rPr>
              <a:t>Maven</a:t>
            </a:r>
            <a:r>
              <a:rPr lang="en-US" sz="2400" dirty="0">
                <a:latin typeface="Times New Roman" panose="02020603050405020304" pitchFamily="18" charset="0"/>
                <a:cs typeface="Times New Roman" panose="02020603050405020304" pitchFamily="18" charset="0"/>
              </a:rPr>
              <a:t> is a build automation tool used primarily for Java projects.</a:t>
            </a:r>
          </a:p>
          <a:p>
            <a:r>
              <a:rPr lang="en-US" sz="2400" dirty="0">
                <a:latin typeface="Times New Roman" panose="02020603050405020304" pitchFamily="18" charset="0"/>
                <a:cs typeface="Times New Roman" panose="02020603050405020304" pitchFamily="18" charset="0"/>
              </a:rPr>
              <a:t> The word </a:t>
            </a:r>
            <a:r>
              <a:rPr lang="en-US" sz="2400" i="1" dirty="0">
                <a:latin typeface="Times New Roman" panose="02020603050405020304" pitchFamily="18" charset="0"/>
                <a:cs typeface="Times New Roman" panose="02020603050405020304" pitchFamily="18" charset="0"/>
              </a:rPr>
              <a:t>maven</a:t>
            </a:r>
            <a:r>
              <a:rPr lang="en-US" sz="2400" dirty="0">
                <a:latin typeface="Times New Roman" panose="02020603050405020304" pitchFamily="18" charset="0"/>
                <a:cs typeface="Times New Roman" panose="02020603050405020304" pitchFamily="18" charset="0"/>
              </a:rPr>
              <a:t> means "accumulator of knowledge</a:t>
            </a:r>
          </a:p>
          <a:p>
            <a:r>
              <a:rPr lang="en-US" sz="2400" dirty="0">
                <a:latin typeface="Times New Roman" panose="02020603050405020304" pitchFamily="18" charset="0"/>
                <a:cs typeface="Times New Roman" panose="02020603050405020304" pitchFamily="18" charset="0"/>
              </a:rPr>
              <a:t>Maven addresses two aspects of building software: first, it describes how software is built, and second, it describes its dependencies</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1973852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82905" y="967501"/>
            <a:ext cx="9520237" cy="3449638"/>
          </a:xfrm>
        </p:spPr>
        <p:txBody>
          <a:bodyPr>
            <a:normAutofit fontScale="92500" lnSpcReduction="10000"/>
          </a:bodyPr>
          <a:lstStyle/>
          <a:p>
            <a:r>
              <a:rPr lang="en-US" sz="2800" dirty="0">
                <a:latin typeface="Times New Roman" panose="02020603050405020304" pitchFamily="18" charset="0"/>
                <a:cs typeface="Times New Roman" panose="02020603050405020304" pitchFamily="18" charset="0"/>
              </a:rPr>
              <a:t>Maven dynamically downloads Java libraries and Maven plug-ins from one or more repositories such as the Maven 2 Central Repository, and stores them in a local cache</a:t>
            </a:r>
            <a:r>
              <a:rPr lang="en-US"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It is recommended to  keep copies of your external libraries somewhere locally (in the case of Maven, you should create a repository for your organization containing approved versions of libraries to use). </a:t>
            </a:r>
          </a:p>
          <a:p>
            <a:endParaRPr lang="en-US" sz="28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26767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16460" y="375277"/>
            <a:ext cx="10146615" cy="4926565"/>
          </a:xfrm>
        </p:spPr>
        <p:txBody>
          <a:bodyPr>
            <a:normAutofit/>
          </a:bodyPr>
          <a:lstStyle/>
          <a:p>
            <a:pPr marL="0" indent="0">
              <a:buNone/>
            </a:pPr>
            <a:r>
              <a:rPr lang="en-US" sz="2800" dirty="0">
                <a:solidFill>
                  <a:srgbClr val="7030A0"/>
                </a:solidFill>
                <a:latin typeface="Times New Roman" pitchFamily="18" charset="0"/>
                <a:cs typeface="Times New Roman" panose="02020603050405020304" pitchFamily="18" charset="0"/>
              </a:rPr>
              <a:t>Managing Components</a:t>
            </a:r>
            <a:endParaRPr lang="en-US" sz="2800" dirty="0">
              <a:solidFill>
                <a:srgbClr val="FF0000"/>
              </a:solidFill>
              <a:latin typeface="Times New Roman" pitchFamily="18" charset="0"/>
              <a:cs typeface="Times New Roman" panose="02020603050405020304" pitchFamily="18" charset="0"/>
            </a:endParaRPr>
          </a:p>
          <a:p>
            <a:r>
              <a:rPr lang="en-US" sz="2800" dirty="0">
                <a:latin typeface="Times New Roman" pitchFamily="18" charset="0"/>
                <a:cs typeface="Times New Roman" pitchFamily="18" charset="0"/>
              </a:rPr>
              <a:t>We distinguish between components and libraries in this way: Libraries refer to software packages that your team does not control, other than choosing which to use. Libraries are usually updated rarely. </a:t>
            </a:r>
          </a:p>
          <a:p>
            <a:r>
              <a:rPr lang="en-US" sz="2800" dirty="0">
                <a:latin typeface="Times New Roman" pitchFamily="18" charset="0"/>
                <a:cs typeface="Times New Roman" pitchFamily="18" charset="0"/>
              </a:rPr>
              <a:t>In contrast, components are pieces of software that your application depends upon, but which are also developed by your team, or other teams in your organization</a:t>
            </a:r>
          </a:p>
          <a:p>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0594790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06735" y="260059"/>
            <a:ext cx="10616399" cy="5595457"/>
          </a:xfrm>
        </p:spPr>
        <p:txBody>
          <a:bodyPr>
            <a:normAutofit fontScale="92500"/>
          </a:bodyPr>
          <a:lstStyle/>
          <a:p>
            <a:r>
              <a:rPr lang="en-US" sz="2800" dirty="0">
                <a:latin typeface="Times New Roman" pitchFamily="18" charset="0"/>
                <a:cs typeface="Times New Roman" pitchFamily="18" charset="0"/>
              </a:rPr>
              <a:t>Components are usually updated frequently. </a:t>
            </a:r>
          </a:p>
          <a:p>
            <a:r>
              <a:rPr lang="en-US" sz="2800" dirty="0">
                <a:latin typeface="Times New Roman" pitchFamily="18" charset="0"/>
                <a:cs typeface="Times New Roman" pitchFamily="18" charset="0"/>
              </a:rPr>
              <a:t>This distinction is important because when designing a build process, there are more things to consider when dealing with components than libraries. </a:t>
            </a:r>
          </a:p>
          <a:p>
            <a:r>
              <a:rPr lang="en-US" sz="2800" dirty="0">
                <a:latin typeface="Times New Roman" pitchFamily="18" charset="0"/>
                <a:cs typeface="Times New Roman" pitchFamily="18" charset="0"/>
              </a:rPr>
              <a:t>Almost all modern software systems consist of a collection of components. </a:t>
            </a:r>
          </a:p>
          <a:p>
            <a:r>
              <a:rPr lang="en-US" sz="2800" dirty="0">
                <a:latin typeface="Times New Roman" pitchFamily="18" charset="0"/>
                <a:cs typeface="Times New Roman" pitchFamily="18" charset="0"/>
              </a:rPr>
              <a:t>These components may be DLLs, JAR files,  or something else. Components have a relatively long history in the software industry</a:t>
            </a:r>
          </a:p>
          <a:p>
            <a:r>
              <a:rPr lang="en-US" sz="2800" dirty="0">
                <a:latin typeface="Times New Roman" pitchFamily="18" charset="0"/>
                <a:cs typeface="Times New Roman" pitchFamily="18" charset="0"/>
              </a:rPr>
              <a:t>However, working out how to assemble them into deployable artifacts, and how to implement a deployment pipeline is an important thing to consider.</a:t>
            </a:r>
          </a:p>
          <a:p>
            <a:endParaRPr lang="en-US" sz="2800" dirty="0">
              <a:latin typeface="Times New Roman" pitchFamily="18" charset="0"/>
              <a:cs typeface="Times New Roman" pitchFamily="18" charset="0"/>
            </a:endParaRPr>
          </a:p>
          <a:p>
            <a:endParaRPr lang="en-US" sz="2800" dirty="0">
              <a:latin typeface="Times New Roman" pitchFamily="18" charset="0"/>
              <a:cs typeface="Times New Roman" pitchFamily="18" charset="0"/>
            </a:endParaRPr>
          </a:p>
          <a:p>
            <a:endParaRPr lang="en-US" sz="2800" dirty="0"/>
          </a:p>
        </p:txBody>
      </p:sp>
    </p:spTree>
    <p:extLst>
      <p:ext uri="{BB962C8B-B14F-4D97-AF65-F5344CB8AC3E}">
        <p14:creationId xmlns:p14="http://schemas.microsoft.com/office/powerpoint/2010/main" val="40410074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33906" y="120213"/>
            <a:ext cx="10322784" cy="5257130"/>
          </a:xfrm>
        </p:spPr>
        <p:txBody>
          <a:bodyPr>
            <a:normAutofit/>
          </a:bodyPr>
          <a:lstStyle/>
          <a:p>
            <a:endParaRPr lang="en-US" sz="2800" dirty="0"/>
          </a:p>
          <a:p>
            <a:r>
              <a:rPr lang="en-US" sz="2800" dirty="0"/>
              <a:t>Tools such as Ivy and Maven and scripting technologies such as Gradle and Build do make life easier than it used to be</a:t>
            </a:r>
            <a:r>
              <a:rPr lang="en-US" dirty="0"/>
              <a:t>.</a:t>
            </a:r>
          </a:p>
          <a:p>
            <a:r>
              <a:rPr lang="en-US" sz="2800" dirty="0">
                <a:latin typeface="Times New Roman" pitchFamily="18" charset="0"/>
                <a:cs typeface="Times New Roman" pitchFamily="18" charset="0"/>
              </a:rPr>
              <a:t>Gradle is a build System</a:t>
            </a:r>
          </a:p>
          <a:p>
            <a:r>
              <a:rPr lang="en-US" sz="2800" dirty="0">
                <a:latin typeface="Times New Roman" pitchFamily="18" charset="0"/>
                <a:cs typeface="Times New Roman" pitchFamily="18" charset="0"/>
              </a:rPr>
              <a:t>The build System automatically takes all the source files (.java or .xml files) then applies the appropriate tool and groups all of them into one compressed file APK.</a:t>
            </a:r>
          </a:p>
          <a:p>
            <a:endParaRPr lang="en-US" dirty="0"/>
          </a:p>
        </p:txBody>
      </p:sp>
    </p:spTree>
    <p:extLst>
      <p:ext uri="{BB962C8B-B14F-4D97-AF65-F5344CB8AC3E}">
        <p14:creationId xmlns:p14="http://schemas.microsoft.com/office/powerpoint/2010/main" val="26561721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01018" y="740997"/>
            <a:ext cx="9520237" cy="4737013"/>
          </a:xfrm>
        </p:spPr>
        <p:txBody>
          <a:bodyPr>
            <a:normAutofit/>
          </a:bodyPr>
          <a:lstStyle/>
          <a:p>
            <a:r>
              <a:rPr lang="en-US" sz="2800" dirty="0" err="1">
                <a:latin typeface="Times New Roman" pitchFamily="18" charset="0"/>
                <a:cs typeface="Times New Roman" pitchFamily="18" charset="0"/>
              </a:rPr>
              <a:t>Gradle</a:t>
            </a:r>
            <a:r>
              <a:rPr lang="en-US" sz="2800" dirty="0">
                <a:latin typeface="Times New Roman" pitchFamily="18" charset="0"/>
                <a:cs typeface="Times New Roman" pitchFamily="18" charset="0"/>
              </a:rPr>
              <a:t> is a popular open source automated build system that makes working on large projects easier.</a:t>
            </a:r>
          </a:p>
          <a:p>
            <a:r>
              <a:rPr lang="en-US" sz="2800" dirty="0">
                <a:latin typeface="Times New Roman" pitchFamily="18" charset="0"/>
                <a:cs typeface="Times New Roman" pitchFamily="18" charset="0"/>
              </a:rPr>
              <a:t>It speeds up the build process by skipping unnecessary re-execution of up-to-date projects part of larger project trees. It also makes adding different libraries to a project easier by using just one line of code.</a:t>
            </a:r>
          </a:p>
          <a:p>
            <a:r>
              <a:rPr lang="en-US" sz="2800" dirty="0">
                <a:latin typeface="Times New Roman" pitchFamily="18" charset="0"/>
                <a:cs typeface="Times New Roman" pitchFamily="18" charset="0"/>
              </a:rPr>
              <a:t>Gradle is an Official build system for android</a:t>
            </a:r>
          </a:p>
          <a:p>
            <a:endParaRPr lang="en-US" sz="2800" dirty="0">
              <a:latin typeface="Times New Roman" pitchFamily="18" charset="0"/>
              <a:cs typeface="Times New Roman" pitchFamily="18" charset="0"/>
            </a:endParaRPr>
          </a:p>
          <a:p>
            <a:endParaRPr lang="en-US" sz="2800" dirty="0"/>
          </a:p>
        </p:txBody>
      </p:sp>
    </p:spTree>
    <p:extLst>
      <p:ext uri="{BB962C8B-B14F-4D97-AF65-F5344CB8AC3E}">
        <p14:creationId xmlns:p14="http://schemas.microsoft.com/office/powerpoint/2010/main" val="28601013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74657" y="0"/>
            <a:ext cx="9520237" cy="1049337"/>
          </a:xfrm>
        </p:spPr>
        <p:txBody>
          <a:bodyPr/>
          <a:lstStyle/>
          <a:p>
            <a:r>
              <a:rPr lang="en-US" dirty="0">
                <a:solidFill>
                  <a:srgbClr val="FF0000"/>
                </a:solidFill>
              </a:rPr>
              <a:t>Managing Software Configuration</a:t>
            </a:r>
          </a:p>
        </p:txBody>
      </p:sp>
      <p:sp>
        <p:nvSpPr>
          <p:cNvPr id="3" name="Content Placeholder 2"/>
          <p:cNvSpPr>
            <a:spLocks noGrp="1"/>
          </p:cNvSpPr>
          <p:nvPr>
            <p:ph idx="4294967295"/>
          </p:nvPr>
        </p:nvSpPr>
        <p:spPr>
          <a:xfrm>
            <a:off x="1335881" y="1558925"/>
            <a:ext cx="9520237" cy="3449638"/>
          </a:xfrm>
        </p:spPr>
        <p:txBody>
          <a:bodyPr>
            <a:normAutofit/>
          </a:bodyPr>
          <a:lstStyle/>
          <a:p>
            <a:r>
              <a:rPr lang="en-US" sz="2800" dirty="0">
                <a:latin typeface="Times New Roman" pitchFamily="18" charset="0"/>
                <a:cs typeface="Times New Roman" pitchFamily="18" charset="0"/>
              </a:rPr>
              <a:t>Configuration is one of the three key parts that comprise an application, along with its binaries and its data. </a:t>
            </a:r>
          </a:p>
          <a:p>
            <a:r>
              <a:rPr lang="en-US" sz="2800" dirty="0">
                <a:latin typeface="Times New Roman" pitchFamily="18" charset="0"/>
                <a:cs typeface="Times New Roman" pitchFamily="18" charset="0"/>
              </a:rPr>
              <a:t>Configuration information can be used to change the behavior of software at build time, deploy time, and run time. </a:t>
            </a:r>
          </a:p>
          <a:p>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8384747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54423" y="814854"/>
            <a:ext cx="9520238" cy="5101851"/>
          </a:xfrm>
        </p:spPr>
        <p:txBody>
          <a:bodyPr>
            <a:normAutofit/>
          </a:bodyPr>
          <a:lstStyle/>
          <a:p>
            <a:r>
              <a:rPr lang="en-US" sz="2400" dirty="0"/>
              <a:t>Delivery teams need to consider carefully what configuration options should be available, how to manage them throughout the application’s life, and how to ensure that configuration is managed consistently across components, applications, and technologies.</a:t>
            </a:r>
          </a:p>
          <a:p>
            <a:r>
              <a:rPr lang="en-US" sz="2800" dirty="0">
                <a:latin typeface="Times New Roman" pitchFamily="18" charset="0"/>
                <a:cs typeface="Times New Roman" pitchFamily="18" charset="0"/>
              </a:rPr>
              <a:t>We believe that you should treat the configuration of your system in the same way you treat your code: Make it subject to proper management and testing</a:t>
            </a:r>
            <a:endParaRPr lang="en-US" sz="2800" dirty="0"/>
          </a:p>
        </p:txBody>
      </p:sp>
    </p:spTree>
    <p:extLst>
      <p:ext uri="{BB962C8B-B14F-4D97-AF65-F5344CB8AC3E}">
        <p14:creationId xmlns:p14="http://schemas.microsoft.com/office/powerpoint/2010/main" val="28066579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90563" y="366618"/>
            <a:ext cx="9520237" cy="5397687"/>
          </a:xfrm>
        </p:spPr>
        <p:txBody>
          <a:bodyPr>
            <a:normAutofit fontScale="92500" lnSpcReduction="20000"/>
          </a:bodyPr>
          <a:lstStyle/>
          <a:p>
            <a:pPr marL="0" indent="0">
              <a:buNone/>
            </a:pPr>
            <a:r>
              <a:rPr lang="en-US" sz="3000" b="1" i="1" dirty="0">
                <a:solidFill>
                  <a:srgbClr val="7030A0"/>
                </a:solidFill>
              </a:rPr>
              <a:t>Configuration and Flexibility</a:t>
            </a:r>
          </a:p>
          <a:p>
            <a:r>
              <a:rPr lang="en-US" sz="2800" dirty="0">
                <a:latin typeface="Times New Roman" pitchFamily="18" charset="0"/>
                <a:cs typeface="Times New Roman" pitchFamily="18" charset="0"/>
              </a:rPr>
              <a:t>At one end, there is single-purpose software that does one job well but has little or no ability to have its behavior modified. </a:t>
            </a:r>
          </a:p>
          <a:p>
            <a:r>
              <a:rPr lang="en-US" sz="2800" dirty="0">
                <a:latin typeface="Times New Roman" pitchFamily="18" charset="0"/>
                <a:cs typeface="Times New Roman" pitchFamily="18" charset="0"/>
              </a:rPr>
              <a:t>At the other end of the spectrum is a programming language that you can use to write a game, an application server, or a stock control system—that is flexibility</a:t>
            </a:r>
            <a:r>
              <a:rPr lang="en-US" dirty="0"/>
              <a:t>! </a:t>
            </a:r>
          </a:p>
          <a:p>
            <a:r>
              <a:rPr lang="en-US" sz="3000" dirty="0">
                <a:latin typeface="Times New Roman" pitchFamily="18" charset="0"/>
                <a:cs typeface="Times New Roman" pitchFamily="18" charset="0"/>
              </a:rPr>
              <a:t>Most applications,  are designed for a specific purpose, but within the bounds of that purpose they will usually have some ways in which their behavior can be modified</a:t>
            </a:r>
          </a:p>
          <a:p>
            <a:r>
              <a:rPr lang="en-US" sz="3200" dirty="0">
                <a:latin typeface="Times New Roman" pitchFamily="18" charset="0"/>
                <a:cs typeface="Times New Roman" pitchFamily="18" charset="0"/>
              </a:rPr>
              <a:t>Configuration information is somehow less risky to change than source code.</a:t>
            </a:r>
          </a:p>
          <a:p>
            <a:endParaRPr lang="en-US" sz="30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35116127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47127" y="375583"/>
            <a:ext cx="10891838" cy="5406651"/>
          </a:xfrm>
        </p:spPr>
        <p:txBody>
          <a:bodyPr>
            <a:normAutofit fontScale="85000" lnSpcReduction="20000"/>
          </a:bodyPr>
          <a:lstStyle/>
          <a:p>
            <a:pPr marL="0" indent="0">
              <a:buNone/>
            </a:pPr>
            <a:r>
              <a:rPr lang="en-US" sz="3300" b="1" i="1" dirty="0">
                <a:solidFill>
                  <a:srgbClr val="7030A0"/>
                </a:solidFill>
                <a:latin typeface="Times New Roman" pitchFamily="18" charset="0"/>
                <a:cs typeface="Times New Roman" pitchFamily="18" charset="0"/>
              </a:rPr>
              <a:t>Managing Application Configuration</a:t>
            </a:r>
          </a:p>
          <a:p>
            <a:r>
              <a:rPr lang="en-US" sz="2800" dirty="0">
                <a:latin typeface="Times New Roman" pitchFamily="18" charset="0"/>
                <a:cs typeface="Times New Roman" pitchFamily="18" charset="0"/>
              </a:rPr>
              <a:t>There are three questions to consider when managing your application’s</a:t>
            </a:r>
          </a:p>
          <a:p>
            <a:r>
              <a:rPr lang="en-US" sz="2800" dirty="0">
                <a:latin typeface="Times New Roman" pitchFamily="18" charset="0"/>
                <a:cs typeface="Times New Roman" pitchFamily="18" charset="0"/>
              </a:rPr>
              <a:t>configuration:</a:t>
            </a:r>
          </a:p>
          <a:p>
            <a:r>
              <a:rPr lang="en-US" sz="2800" dirty="0">
                <a:latin typeface="Times New Roman" pitchFamily="18" charset="0"/>
                <a:cs typeface="Times New Roman" pitchFamily="18" charset="0"/>
              </a:rPr>
              <a:t>1. How do you represent your configuration information?</a:t>
            </a:r>
          </a:p>
          <a:p>
            <a:r>
              <a:rPr lang="en-US" sz="2800" dirty="0">
                <a:latin typeface="Times New Roman" pitchFamily="18" charset="0"/>
                <a:cs typeface="Times New Roman" pitchFamily="18" charset="0"/>
              </a:rPr>
              <a:t>2. How do your deployment scripts access it?</a:t>
            </a:r>
          </a:p>
          <a:p>
            <a:r>
              <a:rPr lang="en-US" sz="2800" dirty="0">
                <a:latin typeface="Times New Roman" pitchFamily="18" charset="0"/>
                <a:cs typeface="Times New Roman" pitchFamily="18" charset="0"/>
              </a:rPr>
              <a:t>3. How does it vary between environments, applications, and versions of</a:t>
            </a:r>
          </a:p>
          <a:p>
            <a:r>
              <a:rPr lang="en-US" sz="2800" dirty="0">
                <a:latin typeface="Times New Roman" pitchFamily="18" charset="0"/>
                <a:cs typeface="Times New Roman" pitchFamily="18" charset="0"/>
              </a:rPr>
              <a:t>Applications</a:t>
            </a:r>
          </a:p>
          <a:p>
            <a:r>
              <a:rPr lang="en-US" sz="2800" dirty="0">
                <a:latin typeface="Times New Roman" pitchFamily="18" charset="0"/>
                <a:cs typeface="Times New Roman" pitchFamily="18" charset="0"/>
              </a:rPr>
              <a:t>It is often important to keep the actual configuration information specific to each of your application’s  in a repository separate from your source code.</a:t>
            </a:r>
          </a:p>
          <a:p>
            <a:r>
              <a:rPr lang="en-US" sz="2800" dirty="0">
                <a:latin typeface="Times New Roman" pitchFamily="18" charset="0"/>
                <a:cs typeface="Times New Roman" pitchFamily="18" charset="0"/>
              </a:rPr>
              <a:t>Databases, directories, and registries are convenient places to store configuration since they can be accessed remotely</a:t>
            </a:r>
          </a:p>
          <a:p>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2204789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03692" y="348690"/>
            <a:ext cx="9520237" cy="3449638"/>
          </a:xfrm>
        </p:spPr>
        <p:txBody>
          <a:bodyPr>
            <a:normAutofit/>
          </a:bodyPr>
          <a:lstStyle/>
          <a:p>
            <a:pPr marL="0" indent="0">
              <a:buNone/>
            </a:pPr>
            <a:r>
              <a:rPr lang="en-US" sz="2800" b="1" dirty="0">
                <a:solidFill>
                  <a:srgbClr val="7030A0"/>
                </a:solidFill>
                <a:latin typeface="Times New Roman" pitchFamily="18" charset="0"/>
                <a:cs typeface="Times New Roman" pitchFamily="18" charset="0"/>
              </a:rPr>
              <a:t>Accessing Configuration</a:t>
            </a:r>
          </a:p>
          <a:p>
            <a:r>
              <a:rPr lang="en-US" sz="2800" dirty="0">
                <a:latin typeface="Times New Roman" pitchFamily="18" charset="0"/>
                <a:cs typeface="Times New Roman" pitchFamily="18" charset="0"/>
              </a:rPr>
              <a:t>The most efficient way to manage configuration is to have a central service through which every application can get the configuration it needs.</a:t>
            </a:r>
          </a:p>
          <a:p>
            <a:r>
              <a:rPr lang="en-US" sz="2800" dirty="0">
                <a:latin typeface="Times New Roman" pitchFamily="18" charset="0"/>
                <a:cs typeface="Times New Roman" pitchFamily="18" charset="0"/>
              </a:rPr>
              <a:t>Probably the easiest way for an application to access its configuration is via the file system</a:t>
            </a:r>
            <a:r>
              <a:rPr lang="en-US" dirty="0"/>
              <a:t>.</a:t>
            </a:r>
          </a:p>
        </p:txBody>
      </p:sp>
    </p:spTree>
    <p:extLst>
      <p:ext uri="{BB962C8B-B14F-4D97-AF65-F5344CB8AC3E}">
        <p14:creationId xmlns:p14="http://schemas.microsoft.com/office/powerpoint/2010/main" val="28092215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18846" y="465230"/>
            <a:ext cx="10479460" cy="5218393"/>
          </a:xfrm>
        </p:spPr>
        <p:txBody>
          <a:bodyPr>
            <a:normAutofit lnSpcReduction="10000"/>
          </a:bodyPr>
          <a:lstStyle/>
          <a:p>
            <a:pPr marL="0" indent="0">
              <a:buNone/>
            </a:pPr>
            <a:r>
              <a:rPr lang="en-US" sz="3200" b="1" dirty="0">
                <a:solidFill>
                  <a:srgbClr val="7030A0"/>
                </a:solidFill>
              </a:rPr>
              <a:t>Modeling Configuration</a:t>
            </a:r>
          </a:p>
          <a:p>
            <a:r>
              <a:rPr lang="en-US" sz="2800" dirty="0">
                <a:latin typeface="Times New Roman" pitchFamily="18" charset="0"/>
                <a:cs typeface="Times New Roman" pitchFamily="18" charset="0"/>
              </a:rPr>
              <a:t>Each configuration setting can be modeled as a tuple, so the configuration for an application consists of a set of tuples. However, the set of the tuples available and their values typically depend on three things:</a:t>
            </a:r>
          </a:p>
          <a:p>
            <a:pPr marL="0" indent="0">
              <a:buNone/>
            </a:pPr>
            <a:r>
              <a:rPr lang="en-US" sz="2800" dirty="0">
                <a:latin typeface="Times New Roman" pitchFamily="18" charset="0"/>
                <a:cs typeface="Times New Roman" pitchFamily="18" charset="0"/>
              </a:rPr>
              <a:t>• The application</a:t>
            </a:r>
          </a:p>
          <a:p>
            <a:pPr marL="0" indent="0">
              <a:buNone/>
            </a:pPr>
            <a:r>
              <a:rPr lang="en-US" sz="2800" dirty="0">
                <a:latin typeface="Times New Roman" pitchFamily="18" charset="0"/>
                <a:cs typeface="Times New Roman" pitchFamily="18" charset="0"/>
              </a:rPr>
              <a:t>• The version of the application</a:t>
            </a:r>
          </a:p>
          <a:p>
            <a:pPr marL="0" indent="0">
              <a:buNone/>
            </a:pPr>
            <a:r>
              <a:rPr lang="en-US" sz="2800" dirty="0">
                <a:latin typeface="Times New Roman" pitchFamily="18" charset="0"/>
                <a:cs typeface="Times New Roman" pitchFamily="18" charset="0"/>
              </a:rPr>
              <a:t>• The environment it runs in (for example, development, UAT, performance, staging, or production</a:t>
            </a:r>
            <a:endParaRPr lang="en-US" sz="2800" dirty="0"/>
          </a:p>
          <a:p>
            <a:endParaRPr lang="en-US" sz="2800" dirty="0">
              <a:latin typeface="Times New Roman" pitchFamily="18" charset="0"/>
              <a:cs typeface="Times New Roman" pitchFamily="18" charset="0"/>
            </a:endParaRPr>
          </a:p>
          <a:p>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3005097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71245" y="562162"/>
            <a:ext cx="10721508" cy="530972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Principles of Managing Application Conﬁguration (Contd..)</a:t>
            </a:r>
          </a:p>
          <a:p>
            <a:pPr marL="0" indent="0">
              <a:buNone/>
            </a:pPr>
            <a:r>
              <a:rPr lang="en-US" sz="2400" dirty="0">
                <a:latin typeface="Times New Roman" panose="02020603050405020304" pitchFamily="18" charset="0"/>
                <a:cs typeface="Times New Roman" panose="02020603050405020304" pitchFamily="18" charset="0"/>
              </a:rPr>
              <a:t>1. Consider where in your application’s lifecycle it makes sense to inject a particular piece of conﬁguration—at the point of   deployment or installation time, at startup time, or at run time. </a:t>
            </a:r>
          </a:p>
          <a:p>
            <a:pPr marL="0" indent="0">
              <a:buNone/>
            </a:pPr>
            <a:r>
              <a:rPr lang="en-US" sz="2400" dirty="0">
                <a:latin typeface="Times New Roman" panose="02020603050405020304" pitchFamily="18" charset="0"/>
                <a:cs typeface="Times New Roman" panose="02020603050405020304" pitchFamily="18" charset="0"/>
              </a:rPr>
              <a:t>Speak to the operations and support team to work out what their needs are.</a:t>
            </a:r>
          </a:p>
          <a:p>
            <a:pPr marL="0" indent="0">
              <a:buNone/>
            </a:pPr>
            <a:r>
              <a:rPr lang="en-US" sz="2400" dirty="0"/>
              <a:t>2. </a:t>
            </a:r>
            <a:r>
              <a:rPr lang="en-US" sz="2400" dirty="0">
                <a:latin typeface="Times New Roman" panose="02020603050405020304" pitchFamily="18" charset="0"/>
                <a:cs typeface="Times New Roman" panose="02020603050405020304" pitchFamily="18" charset="0"/>
              </a:rPr>
              <a:t>Keep the available conﬁguration options for your application in the same repository as its source code.</a:t>
            </a:r>
          </a:p>
          <a:p>
            <a:pPr marL="0" indent="0">
              <a:buNone/>
            </a:pPr>
            <a:r>
              <a:rPr lang="en-US" sz="2400" dirty="0">
                <a:latin typeface="Times New Roman" panose="02020603050405020304" pitchFamily="18" charset="0"/>
                <a:cs typeface="Times New Roman" panose="02020603050405020304" pitchFamily="18" charset="0"/>
              </a:rPr>
              <a:t> Conﬁguration settings have a lifecycle completely different from that of code, while sensitive information should not be checked in to version control at all </a:t>
            </a:r>
          </a:p>
        </p:txBody>
      </p:sp>
    </p:spTree>
    <p:extLst>
      <p:ext uri="{BB962C8B-B14F-4D97-AF65-F5344CB8AC3E}">
        <p14:creationId xmlns:p14="http://schemas.microsoft.com/office/powerpoint/2010/main" val="16870762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02304" y="276971"/>
            <a:ext cx="11017343" cy="5496299"/>
          </a:xfrm>
        </p:spPr>
        <p:txBody>
          <a:bodyPr>
            <a:normAutofit fontScale="92500"/>
          </a:bodyPr>
          <a:lstStyle/>
          <a:p>
            <a:pPr marL="0" indent="0">
              <a:buNone/>
            </a:pPr>
            <a:r>
              <a:rPr lang="en-US" sz="2400" dirty="0">
                <a:latin typeface="Times New Roman" panose="02020603050405020304" pitchFamily="18" charset="0"/>
                <a:cs typeface="Times New Roman" panose="02020603050405020304" pitchFamily="18" charset="0"/>
              </a:rPr>
              <a:t>3 Use clear naming conventions for your conﬁguration options. Avoid obscure or cryptic names. Try to imagine someone reading the conﬁguration ﬁle without a manual—it should be possible to understand what the conﬁguration properties are.</a:t>
            </a:r>
          </a:p>
          <a:p>
            <a:pPr marL="0" indent="0">
              <a:buNone/>
            </a:pPr>
            <a:r>
              <a:rPr lang="en-US" sz="2400" dirty="0">
                <a:latin typeface="Times New Roman" panose="02020603050405020304" pitchFamily="18" charset="0"/>
                <a:cs typeface="Times New Roman" panose="02020603050405020304" pitchFamily="18" charset="0"/>
              </a:rPr>
              <a:t>4.Ensure that your conﬁguration information is modular and encapsulated so  that changes in one place don’t have knock-on effects for other, apparently unrelated, pieces of conﬁguration</a:t>
            </a:r>
          </a:p>
          <a:p>
            <a:pPr marL="0" indent="0">
              <a:buNone/>
            </a:pPr>
            <a:r>
              <a:rPr lang="en-US" sz="2400" dirty="0">
                <a:latin typeface="Times New Roman" panose="02020603050405020304" pitchFamily="18" charset="0"/>
                <a:cs typeface="Times New Roman" panose="02020603050405020304" pitchFamily="18" charset="0"/>
              </a:rPr>
              <a:t>5. Be minimalist: Keep the conﬁguration information as simple and as focused as possible. Avoid creating conﬁguration options except where there is a requirement or where it makes sense to do so. </a:t>
            </a:r>
          </a:p>
          <a:p>
            <a:pPr marL="0" indent="0">
              <a:buNone/>
            </a:pPr>
            <a:r>
              <a:rPr lang="en-US" sz="2400" dirty="0"/>
              <a:t>6. </a:t>
            </a:r>
            <a:r>
              <a:rPr lang="en-US" sz="2400" dirty="0">
                <a:latin typeface="Times New Roman" panose="02020603050405020304" pitchFamily="18" charset="0"/>
                <a:cs typeface="Times New Roman" panose="02020603050405020304" pitchFamily="18" charset="0"/>
              </a:rPr>
              <a:t>Ensure that you have tests for your conﬁguration that are run at deployment or installation time. Check that the services your application depends upon are available, and use smoke tests to assert that any functionality depending on your conﬁguration settings works as it should</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10934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4014" y="342420"/>
            <a:ext cx="9520158" cy="1049235"/>
          </a:xfrm>
        </p:spPr>
        <p:txBody>
          <a:bodyPr>
            <a:normAutofit/>
          </a:bodyPr>
          <a:lstStyle/>
          <a:p>
            <a:pPr marL="857250" indent="-857250">
              <a:buFont typeface="+mj-lt"/>
              <a:buAutoNum type="romanUcPeriod" startAt="3"/>
            </a:pPr>
            <a:r>
              <a:rPr lang="en-US" sz="4400" b="1" u="sng" dirty="0"/>
              <a:t>Continuous Integration</a:t>
            </a:r>
          </a:p>
        </p:txBody>
      </p:sp>
      <p:sp>
        <p:nvSpPr>
          <p:cNvPr id="3" name="Content Placeholder 2"/>
          <p:cNvSpPr>
            <a:spLocks noGrp="1"/>
          </p:cNvSpPr>
          <p:nvPr>
            <p:ph idx="1"/>
          </p:nvPr>
        </p:nvSpPr>
        <p:spPr/>
        <p:txBody>
          <a:bodyPr>
            <a:normAutofit/>
          </a:bodyPr>
          <a:lstStyle/>
          <a:p>
            <a:r>
              <a:rPr lang="en-US" sz="2800" b="1" dirty="0"/>
              <a:t>Continuous integration</a:t>
            </a:r>
            <a:r>
              <a:rPr lang="en-US" sz="2800" dirty="0"/>
              <a:t> (</a:t>
            </a:r>
            <a:r>
              <a:rPr lang="en-US" sz="2800" b="1" dirty="0"/>
              <a:t>CI</a:t>
            </a:r>
            <a:r>
              <a:rPr lang="en-US" sz="2800" dirty="0"/>
              <a:t>) is the practice of merging all developer working copies to a shared mainline several times a day.</a:t>
            </a:r>
          </a:p>
          <a:p>
            <a:r>
              <a:rPr lang="en-US" sz="2800" dirty="0"/>
              <a:t>The main aim of CI is to prevent integration problems.</a:t>
            </a:r>
          </a:p>
          <a:p>
            <a:r>
              <a:rPr lang="en-US" sz="2800" dirty="0"/>
              <a:t>Integration tests are usually run automatically on a CI server when it detects a new commit.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92112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Continuous Integration</a:t>
            </a:r>
          </a:p>
        </p:txBody>
      </p:sp>
      <p:sp>
        <p:nvSpPr>
          <p:cNvPr id="3" name="Content Placeholder 2"/>
          <p:cNvSpPr>
            <a:spLocks noGrp="1"/>
          </p:cNvSpPr>
          <p:nvPr>
            <p:ph idx="1"/>
          </p:nvPr>
        </p:nvSpPr>
        <p:spPr/>
        <p:txBody>
          <a:bodyPr/>
          <a:lstStyle/>
          <a:p>
            <a:r>
              <a:rPr lang="en-US" dirty="0"/>
              <a:t>Prerequisites for continuous Integration</a:t>
            </a:r>
          </a:p>
          <a:p>
            <a:r>
              <a:rPr lang="en-US" dirty="0"/>
              <a:t>Using Continuous Integration Software</a:t>
            </a:r>
          </a:p>
          <a:p>
            <a:r>
              <a:rPr lang="en-US" dirty="0"/>
              <a:t>Using Continuous Integration Software-</a:t>
            </a:r>
            <a:r>
              <a:rPr lang="en-US" dirty="0">
                <a:solidFill>
                  <a:srgbClr val="FF0000"/>
                </a:solidFill>
                <a:latin typeface="Times New Roman" pitchFamily="18" charset="0"/>
                <a:cs typeface="Times New Roman" pitchFamily="18" charset="0"/>
              </a:rPr>
              <a:t>Essential Practices</a:t>
            </a:r>
          </a:p>
          <a:p>
            <a:r>
              <a:rPr lang="en-US" dirty="0"/>
              <a:t>Distributed Version Control Systems</a:t>
            </a:r>
            <a:br>
              <a:rPr lang="en-US" dirty="0">
                <a:solidFill>
                  <a:srgbClr val="FF0000"/>
                </a:solidFill>
                <a:latin typeface="Times New Roman" pitchFamily="18" charset="0"/>
                <a:cs typeface="Times New Roman" pitchFamily="18" charset="0"/>
              </a:rPr>
            </a:br>
            <a:endParaRPr lang="en-US" dirty="0"/>
          </a:p>
          <a:p>
            <a:endParaRPr lang="en-US" dirty="0"/>
          </a:p>
        </p:txBody>
      </p:sp>
    </p:spTree>
    <p:extLst>
      <p:ext uri="{BB962C8B-B14F-4D97-AF65-F5344CB8AC3E}">
        <p14:creationId xmlns:p14="http://schemas.microsoft.com/office/powerpoint/2010/main" val="27598501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Basic Continuous Integration System </a:t>
            </a:r>
          </a:p>
        </p:txBody>
      </p:sp>
      <p:sp>
        <p:nvSpPr>
          <p:cNvPr id="3" name="Content Placeholder 2"/>
          <p:cNvSpPr>
            <a:spLocks noGrp="1"/>
          </p:cNvSpPr>
          <p:nvPr>
            <p:ph idx="1"/>
          </p:nvPr>
        </p:nvSpPr>
        <p:spPr/>
        <p:txBody>
          <a:bodyPr/>
          <a:lstStyle/>
          <a:p>
            <a:pPr marL="0" indent="0">
              <a:buNone/>
            </a:pPr>
            <a:r>
              <a:rPr lang="en-US" b="1" dirty="0"/>
              <a:t>6 top continuous integration tools</a:t>
            </a:r>
          </a:p>
          <a:p>
            <a:r>
              <a:rPr lang="en-US" b="1" dirty="0"/>
              <a:t>Jenkins</a:t>
            </a:r>
          </a:p>
          <a:p>
            <a:r>
              <a:rPr lang="en-US" b="1" dirty="0" err="1"/>
              <a:t>Buildbot</a:t>
            </a:r>
            <a:endParaRPr lang="en-US" b="1" dirty="0"/>
          </a:p>
          <a:p>
            <a:r>
              <a:rPr lang="en-US" b="1" dirty="0"/>
              <a:t>Travis CI</a:t>
            </a:r>
          </a:p>
          <a:p>
            <a:r>
              <a:rPr lang="en-US" b="1" dirty="0"/>
              <a:t>Strider</a:t>
            </a:r>
          </a:p>
          <a:p>
            <a:r>
              <a:rPr lang="en-US" b="1" dirty="0"/>
              <a:t>Go</a:t>
            </a:r>
          </a:p>
          <a:p>
            <a:r>
              <a:rPr lang="en-US" b="1" dirty="0"/>
              <a:t>Integrity</a:t>
            </a:r>
            <a:endParaRPr lang="en-US" dirty="0"/>
          </a:p>
        </p:txBody>
      </p:sp>
    </p:spTree>
    <p:extLst>
      <p:ext uri="{BB962C8B-B14F-4D97-AF65-F5344CB8AC3E}">
        <p14:creationId xmlns:p14="http://schemas.microsoft.com/office/powerpoint/2010/main" val="35702485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335881" y="140634"/>
            <a:ext cx="9520238" cy="1049338"/>
          </a:xfrm>
        </p:spPr>
        <p:txBody>
          <a:bodyPr/>
          <a:lstStyle/>
          <a:p>
            <a:r>
              <a:rPr lang="en-US" dirty="0">
                <a:solidFill>
                  <a:srgbClr val="FF0000"/>
                </a:solidFill>
              </a:rPr>
              <a:t>Prerequisites for continuous Integration</a:t>
            </a:r>
          </a:p>
        </p:txBody>
      </p:sp>
      <p:sp>
        <p:nvSpPr>
          <p:cNvPr id="3" name="Content Placeholder 2"/>
          <p:cNvSpPr>
            <a:spLocks noGrp="1"/>
          </p:cNvSpPr>
          <p:nvPr>
            <p:ph idx="4294967295"/>
          </p:nvPr>
        </p:nvSpPr>
        <p:spPr>
          <a:xfrm>
            <a:off x="1335881" y="1585819"/>
            <a:ext cx="9520237" cy="3449638"/>
          </a:xfrm>
        </p:spPr>
        <p:txBody>
          <a:bodyPr>
            <a:normAutofit lnSpcReduction="10000"/>
          </a:bodyPr>
          <a:lstStyle/>
          <a:p>
            <a:pPr marL="0" indent="0">
              <a:buNone/>
            </a:pPr>
            <a:r>
              <a:rPr lang="en-US" sz="2800" dirty="0">
                <a:solidFill>
                  <a:srgbClr val="7030A0"/>
                </a:solidFill>
              </a:rPr>
              <a:t>Check In Regularly</a:t>
            </a:r>
          </a:p>
          <a:p>
            <a:r>
              <a:rPr lang="en-US" sz="2400" dirty="0">
                <a:latin typeface="Times New Roman" panose="02020603050405020304" pitchFamily="18" charset="0"/>
                <a:cs typeface="Times New Roman" panose="02020603050405020304" pitchFamily="18" charset="0"/>
              </a:rPr>
              <a:t>The most important practice for continuous integration to work properly is frequent check-ins to trunk or mainline. You should be checking in your code at least a couple of times a day.</a:t>
            </a:r>
          </a:p>
          <a:p>
            <a:pPr marL="0" indent="0">
              <a:buNone/>
            </a:pPr>
            <a:r>
              <a:rPr lang="en-US" sz="2400" dirty="0">
                <a:latin typeface="Times New Roman" panose="02020603050405020304" pitchFamily="18" charset="0"/>
                <a:cs typeface="Times New Roman" panose="02020603050405020304" pitchFamily="18" charset="0"/>
              </a:rPr>
              <a:t>Benefits of check-in regularly</a:t>
            </a:r>
          </a:p>
          <a:p>
            <a:r>
              <a:rPr lang="en-US" sz="2400" dirty="0">
                <a:latin typeface="Times New Roman" panose="02020603050405020304" pitchFamily="18" charset="0"/>
                <a:cs typeface="Times New Roman" panose="02020603050405020304" pitchFamily="18" charset="0"/>
              </a:rPr>
              <a:t>Checking in regularly brings lots of other beneﬁts. It makes your changes smaller and thus less likely to break the build. </a:t>
            </a:r>
          </a:p>
        </p:txBody>
      </p:sp>
    </p:spTree>
    <p:extLst>
      <p:ext uri="{BB962C8B-B14F-4D97-AF65-F5344CB8AC3E}">
        <p14:creationId xmlns:p14="http://schemas.microsoft.com/office/powerpoint/2010/main" val="13575514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98140" y="483161"/>
            <a:ext cx="9520237" cy="3449638"/>
          </a:xfrm>
        </p:spPr>
        <p:txBody>
          <a:bodyPr>
            <a:normAutofit/>
          </a:bodyPr>
          <a:lstStyle/>
          <a:p>
            <a:pPr marL="0" indent="0">
              <a:buNone/>
            </a:pP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It helps you to be more disciplined about your refactoring and stick to small changes that preserve behavior </a:t>
            </a:r>
          </a:p>
          <a:p>
            <a:r>
              <a:rPr lang="en-US" sz="2800" dirty="0">
                <a:latin typeface="Times New Roman" panose="02020603050405020304" pitchFamily="18" charset="0"/>
                <a:cs typeface="Times New Roman" panose="02020603050405020304" pitchFamily="18" charset="0"/>
              </a:rPr>
              <a:t>It allows developers to be more explorative, trying out ideas and discarding them by reverting back to the last committed version</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21111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81599" y="303866"/>
            <a:ext cx="9520237" cy="5666628"/>
          </a:xfrm>
        </p:spPr>
        <p:txBody>
          <a:bodyPr>
            <a:normAutofit/>
          </a:bodyPr>
          <a:lstStyle/>
          <a:p>
            <a:pPr marL="0" indent="0">
              <a:buNone/>
            </a:pPr>
            <a:r>
              <a:rPr lang="en-US" sz="2400" dirty="0">
                <a:solidFill>
                  <a:srgbClr val="7030A0"/>
                </a:solidFill>
                <a:latin typeface="Times New Roman" panose="02020603050405020304" pitchFamily="18" charset="0"/>
                <a:cs typeface="Times New Roman" panose="02020603050405020304" pitchFamily="18" charset="0"/>
              </a:rPr>
              <a:t>Create a Comprehensive Automated Test Suite</a:t>
            </a:r>
          </a:p>
          <a:p>
            <a:pPr marL="0" indent="0">
              <a:buNone/>
            </a:pPr>
            <a:endParaRPr lang="en-US" sz="2400" dirty="0">
              <a:solidFill>
                <a:srgbClr val="7030A0"/>
              </a:solidFill>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There are three kinds of tests we are interested in running from our continuous integration build: unit tests, component tests, and acceptance tests. </a:t>
            </a:r>
          </a:p>
          <a:p>
            <a:pPr marL="0" indent="0">
              <a:buNone/>
            </a:pPr>
            <a:r>
              <a:rPr lang="en-US" sz="2400" dirty="0">
                <a:latin typeface="Times New Roman" panose="02020603050405020304" pitchFamily="18" charset="0"/>
                <a:cs typeface="Times New Roman" panose="02020603050405020304" pitchFamily="18" charset="0"/>
              </a:rPr>
              <a:t>1.Unit tests </a:t>
            </a:r>
          </a:p>
          <a:p>
            <a:pPr marL="0" indent="0">
              <a:buNone/>
            </a:pPr>
            <a:r>
              <a:rPr lang="en-US" sz="2400" dirty="0">
                <a:latin typeface="Times New Roman" panose="02020603050405020304" pitchFamily="18" charset="0"/>
                <a:cs typeface="Times New Roman" panose="02020603050405020304" pitchFamily="18" charset="0"/>
              </a:rPr>
              <a:t>2.Component tests </a:t>
            </a:r>
          </a:p>
          <a:p>
            <a:pPr marL="0" indent="0">
              <a:buNone/>
            </a:pPr>
            <a:r>
              <a:rPr lang="en-US" sz="2400" dirty="0">
                <a:latin typeface="Times New Roman" panose="02020603050405020304" pitchFamily="18" charset="0"/>
                <a:cs typeface="Times New Roman" panose="02020603050405020304" pitchFamily="18" charset="0"/>
              </a:rPr>
              <a:t>3.Acceptance tests </a:t>
            </a:r>
          </a:p>
        </p:txBody>
      </p:sp>
    </p:spTree>
    <p:extLst>
      <p:ext uri="{BB962C8B-B14F-4D97-AF65-F5344CB8AC3E}">
        <p14:creationId xmlns:p14="http://schemas.microsoft.com/office/powerpoint/2010/main" val="38576029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62280" y="563843"/>
            <a:ext cx="10488426" cy="5263216"/>
          </a:xfrm>
        </p:spPr>
        <p:txBody>
          <a:bodyPr>
            <a:normAutofit fontScale="92500" lnSpcReduction="20000"/>
          </a:bodyPr>
          <a:lstStyle/>
          <a:p>
            <a:r>
              <a:rPr lang="en-US" sz="2800" b="1" dirty="0">
                <a:latin typeface="Times New Roman" panose="02020603050405020304" pitchFamily="18" charset="0"/>
                <a:cs typeface="Times New Roman" panose="02020603050405020304" pitchFamily="18" charset="0"/>
              </a:rPr>
              <a:t>Unit tests </a:t>
            </a:r>
            <a:r>
              <a:rPr lang="en-US" sz="2800" dirty="0">
                <a:latin typeface="Times New Roman" panose="02020603050405020304" pitchFamily="18" charset="0"/>
                <a:cs typeface="Times New Roman" panose="02020603050405020304" pitchFamily="18" charset="0"/>
              </a:rPr>
              <a:t>are written to test the behavior of small pieces of your application in isolation (say, a method, or a function)</a:t>
            </a:r>
          </a:p>
          <a:p>
            <a:r>
              <a:rPr lang="en-US" sz="2800" b="1" dirty="0">
                <a:latin typeface="Times New Roman" panose="02020603050405020304" pitchFamily="18" charset="0"/>
                <a:cs typeface="Times New Roman" panose="02020603050405020304" pitchFamily="18" charset="0"/>
              </a:rPr>
              <a:t>Component tests</a:t>
            </a:r>
            <a:r>
              <a:rPr lang="en-US" sz="2800" dirty="0">
                <a:latin typeface="Times New Roman" panose="02020603050405020304" pitchFamily="18" charset="0"/>
                <a:cs typeface="Times New Roman" panose="02020603050405020304" pitchFamily="18" charset="0"/>
              </a:rPr>
              <a:t> test the behavior of several components of your application.</a:t>
            </a:r>
          </a:p>
          <a:p>
            <a:r>
              <a:rPr lang="en-US" sz="2800" b="1" dirty="0">
                <a:latin typeface="Times New Roman" panose="02020603050405020304" pitchFamily="18" charset="0"/>
                <a:cs typeface="Times New Roman" panose="02020603050405020304" pitchFamily="18" charset="0"/>
              </a:rPr>
              <a:t>Acceptance tests </a:t>
            </a:r>
            <a:r>
              <a:rPr lang="en-US" sz="2800" dirty="0">
                <a:latin typeface="Times New Roman" panose="02020603050405020304" pitchFamily="18" charset="0"/>
                <a:cs typeface="Times New Roman" panose="02020603050405020304" pitchFamily="18" charset="0"/>
              </a:rPr>
              <a:t>test that the application meets the acceptance criteria decided by the business, including both the functionality provided by the application and its characteristics such as capacity, availability, security, and so on.  </a:t>
            </a:r>
          </a:p>
          <a:p>
            <a:r>
              <a:rPr lang="en-US" sz="2800" dirty="0">
                <a:latin typeface="Times New Roman" panose="02020603050405020304" pitchFamily="18" charset="0"/>
                <a:cs typeface="Times New Roman" panose="02020603050405020304" pitchFamily="18" charset="0"/>
              </a:rPr>
              <a:t>These three sets of tests, combined, should provide an extremely high level of conﬁdence that any introduced change has not broken existing functionality</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74854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81599" y="357654"/>
            <a:ext cx="10739436" cy="5308040"/>
          </a:xfrm>
        </p:spPr>
        <p:txBody>
          <a:bodyPr>
            <a:normAutofit lnSpcReduction="10000"/>
          </a:bodyPr>
          <a:lstStyle/>
          <a:p>
            <a:pPr marL="0" indent="0">
              <a:buNone/>
            </a:pPr>
            <a:r>
              <a:rPr lang="en-US" sz="2400" dirty="0">
                <a:solidFill>
                  <a:srgbClr val="7030A0"/>
                </a:solidFill>
              </a:rPr>
              <a:t>Keep the Build and Test Process Short </a:t>
            </a:r>
          </a:p>
          <a:p>
            <a:pPr marL="0" indent="0">
              <a:buNone/>
            </a:pPr>
            <a:r>
              <a:rPr lang="en-US" sz="2800" dirty="0">
                <a:latin typeface="Times New Roman" panose="02020603050405020304" pitchFamily="18" charset="0"/>
                <a:cs typeface="Times New Roman" panose="02020603050405020304" pitchFamily="18" charset="0"/>
              </a:rPr>
              <a:t>If it takes too long to build the code and run the unit tests, you will run into the following problems:</a:t>
            </a:r>
          </a:p>
          <a:p>
            <a:r>
              <a:rPr lang="en-US" sz="2800" dirty="0">
                <a:latin typeface="Times New Roman" panose="02020603050405020304" pitchFamily="18" charset="0"/>
                <a:cs typeface="Times New Roman" panose="02020603050405020304" pitchFamily="18" charset="0"/>
              </a:rPr>
              <a:t> People will stop doing a full build and running the tests before they check in. You will start to get more failing builds.</a:t>
            </a:r>
          </a:p>
          <a:p>
            <a:r>
              <a:rPr lang="en-US" sz="2800" dirty="0"/>
              <a:t> </a:t>
            </a:r>
            <a:r>
              <a:rPr lang="en-US" sz="2800" dirty="0">
                <a:latin typeface="Times New Roman" panose="02020603050405020304" pitchFamily="18" charset="0"/>
                <a:cs typeface="Times New Roman" panose="02020603050405020304" pitchFamily="18" charset="0"/>
              </a:rPr>
              <a:t>The continuous integration process will take so long that multiple commits will have taken place by the time you can run the build again, so you won’t know which check-in broke the build. </a:t>
            </a:r>
          </a:p>
          <a:p>
            <a:r>
              <a:rPr lang="en-US" sz="2800" dirty="0">
                <a:latin typeface="Times New Roman" panose="02020603050405020304" pitchFamily="18" charset="0"/>
                <a:cs typeface="Times New Roman" panose="02020603050405020304" pitchFamily="18" charset="0"/>
              </a:rPr>
              <a:t> People will check in less often because they have to sit around for ages waiting for the software to build and the tests to run</a:t>
            </a:r>
          </a:p>
        </p:txBody>
      </p:sp>
    </p:spTree>
    <p:extLst>
      <p:ext uri="{BB962C8B-B14F-4D97-AF65-F5344CB8AC3E}">
        <p14:creationId xmlns:p14="http://schemas.microsoft.com/office/powerpoint/2010/main" val="2910213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54705" y="339725"/>
            <a:ext cx="10228448" cy="5128746"/>
          </a:xfrm>
        </p:spPr>
        <p:txBody>
          <a:bodyPr>
            <a:normAutofit fontScale="92500" lnSpcReduction="10000"/>
          </a:bodyPr>
          <a:lstStyle/>
          <a:p>
            <a:pPr marL="0" indent="0">
              <a:buNone/>
            </a:pPr>
            <a:r>
              <a:rPr lang="en-US" sz="2800" dirty="0">
                <a:latin typeface="Times New Roman" panose="02020603050405020304" pitchFamily="18" charset="0"/>
                <a:cs typeface="Times New Roman" panose="02020603050405020304" pitchFamily="18" charset="0"/>
              </a:rPr>
              <a:t>Ideally, the compile and test process that you run prior to check-in and on your CI server should take a few minutes.</a:t>
            </a:r>
          </a:p>
          <a:p>
            <a:pPr marL="0" indent="0">
              <a:buNone/>
            </a:pPr>
            <a:r>
              <a:rPr lang="en-US" sz="2800" dirty="0">
                <a:latin typeface="Times New Roman" panose="02020603050405020304" pitchFamily="18" charset="0"/>
                <a:cs typeface="Times New Roman" panose="02020603050405020304" pitchFamily="18" charset="0"/>
              </a:rPr>
              <a:t>There are a number of techniques that you can use to reduce the build time. </a:t>
            </a:r>
          </a:p>
          <a:p>
            <a:pPr marL="0" indent="0">
              <a:buNone/>
            </a:pPr>
            <a:r>
              <a:rPr lang="en-US" sz="2800" dirty="0">
                <a:solidFill>
                  <a:srgbClr val="00B050"/>
                </a:solidFill>
                <a:latin typeface="Times New Roman" panose="02020603050405020304" pitchFamily="18" charset="0"/>
                <a:cs typeface="Times New Roman" panose="02020603050405020304" pitchFamily="18" charset="0"/>
              </a:rPr>
              <a:t>The ﬁrst thing to consider is making your tests run faster. </a:t>
            </a:r>
          </a:p>
          <a:p>
            <a:pPr marL="0" indent="0">
              <a:buNone/>
            </a:pPr>
            <a:r>
              <a:rPr lang="en-US" sz="2800" dirty="0" err="1">
                <a:latin typeface="Times New Roman" panose="02020603050405020304" pitchFamily="18" charset="0"/>
                <a:cs typeface="Times New Roman" panose="02020603050405020304" pitchFamily="18" charset="0"/>
              </a:rPr>
              <a:t>XUnit</a:t>
            </a:r>
            <a:r>
              <a:rPr lang="en-US" sz="2800" dirty="0">
                <a:latin typeface="Times New Roman" panose="02020603050405020304" pitchFamily="18" charset="0"/>
                <a:cs typeface="Times New Roman" panose="02020603050405020304" pitchFamily="18" charset="0"/>
              </a:rPr>
              <a:t>-type tools, such as JUnit and </a:t>
            </a:r>
            <a:r>
              <a:rPr lang="en-US" sz="2800" dirty="0" err="1">
                <a:latin typeface="Times New Roman" panose="02020603050405020304" pitchFamily="18" charset="0"/>
                <a:cs typeface="Times New Roman" panose="02020603050405020304" pitchFamily="18" charset="0"/>
              </a:rPr>
              <a:t>NUnit</a:t>
            </a:r>
            <a:r>
              <a:rPr lang="en-US" sz="2800" dirty="0">
                <a:latin typeface="Times New Roman" panose="02020603050405020304" pitchFamily="18" charset="0"/>
                <a:cs typeface="Times New Roman" panose="02020603050405020304" pitchFamily="18" charset="0"/>
              </a:rPr>
              <a:t>, provide a breakdown of how long each test took in their output.</a:t>
            </a:r>
          </a:p>
          <a:p>
            <a:r>
              <a:rPr lang="en-US" sz="2800" b="1" dirty="0"/>
              <a:t>What is JUnit ?</a:t>
            </a:r>
          </a:p>
          <a:p>
            <a:pPr marL="0" indent="0">
              <a:buNone/>
            </a:pPr>
            <a:r>
              <a:rPr lang="en-US" sz="2800" dirty="0">
                <a:latin typeface="Times New Roman" panose="02020603050405020304" pitchFamily="18" charset="0"/>
                <a:cs typeface="Times New Roman" panose="02020603050405020304" pitchFamily="18" charset="0"/>
              </a:rPr>
              <a:t>JUnit is a unit testing framework for Java programming language. It plays a crucial role test-driven development, and is a family of unit testing frameworks collectively known as </a:t>
            </a:r>
            <a:r>
              <a:rPr lang="en-US" sz="2800" dirty="0" err="1">
                <a:latin typeface="Times New Roman" panose="02020603050405020304" pitchFamily="18" charset="0"/>
                <a:cs typeface="Times New Roman" panose="02020603050405020304" pitchFamily="18" charset="0"/>
              </a:rPr>
              <a:t>xUnit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48620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57201" y="303864"/>
            <a:ext cx="10703858" cy="5612842"/>
          </a:xfrm>
        </p:spPr>
        <p:txBody>
          <a:bodyPr>
            <a:normAutofit fontScale="92500"/>
          </a:bodyPr>
          <a:lstStyle/>
          <a:p>
            <a:pPr marL="0" indent="0">
              <a:buNone/>
            </a:pPr>
            <a:r>
              <a:rPr lang="en-US" sz="2800" dirty="0">
                <a:solidFill>
                  <a:srgbClr val="7030A0"/>
                </a:solidFill>
              </a:rPr>
              <a:t>Managing Your Development Workspace</a:t>
            </a:r>
          </a:p>
          <a:p>
            <a:pPr marL="0" indent="0">
              <a:buNone/>
            </a:pPr>
            <a:r>
              <a:rPr lang="en-US" dirty="0">
                <a:solidFill>
                  <a:srgbClr val="FF0000"/>
                </a:solidFill>
              </a:rPr>
              <a:t> </a:t>
            </a:r>
            <a:r>
              <a:rPr lang="en-US" sz="2800" dirty="0">
                <a:latin typeface="Times New Roman" panose="02020603050405020304" pitchFamily="18" charset="0"/>
                <a:cs typeface="Times New Roman" panose="02020603050405020304" pitchFamily="18" charset="0"/>
              </a:rPr>
              <a:t>Developers should be able to run the build, execute the automated tests, and deploy the application in an environment under their control</a:t>
            </a:r>
          </a:p>
          <a:p>
            <a:r>
              <a:rPr lang="en-US" sz="2800" dirty="0">
                <a:latin typeface="Times New Roman" panose="02020603050405020304" pitchFamily="18" charset="0"/>
                <a:cs typeface="Times New Roman" panose="02020603050405020304" pitchFamily="18" charset="0"/>
              </a:rPr>
              <a:t>The ﬁrst prerequisite to achieve this is careful conﬁguration management, not just of source code, but also of test data, database scripts etc.</a:t>
            </a:r>
          </a:p>
          <a:p>
            <a:r>
              <a:rPr lang="en-US" sz="2800" dirty="0">
                <a:latin typeface="Times New Roman" panose="02020603050405020304" pitchFamily="18" charset="0"/>
                <a:cs typeface="Times New Roman" panose="02020603050405020304" pitchFamily="18" charset="0"/>
              </a:rPr>
              <a:t>All of these must be stored in version control, and the most recent known-good version of these should be the starting point when coding begins.</a:t>
            </a:r>
          </a:p>
          <a:p>
            <a:r>
              <a:rPr lang="en-US" sz="2800" dirty="0">
                <a:latin typeface="Times New Roman" panose="02020603050405020304" pitchFamily="18" charset="0"/>
                <a:cs typeface="Times New Roman" panose="02020603050405020304" pitchFamily="18" charset="0"/>
              </a:rPr>
              <a:t>The second step is conﬁguration management of third-party dependencies, libraries, and component</a:t>
            </a:r>
          </a:p>
          <a:p>
            <a:endParaRPr lang="en-US" sz="2800"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5566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5921" y="114236"/>
            <a:ext cx="9520158" cy="1049235"/>
          </a:xfrm>
        </p:spPr>
        <p:txBody>
          <a:bodyPr/>
          <a:lstStyle/>
          <a:p>
            <a:r>
              <a:rPr lang="en-US" dirty="0">
                <a:solidFill>
                  <a:srgbClr val="FF0000"/>
                </a:solidFill>
              </a:rPr>
              <a:t>Using Continuous Integration Software</a:t>
            </a:r>
          </a:p>
        </p:txBody>
      </p:sp>
      <p:sp>
        <p:nvSpPr>
          <p:cNvPr id="3" name="Content Placeholder 2"/>
          <p:cNvSpPr>
            <a:spLocks noGrp="1"/>
          </p:cNvSpPr>
          <p:nvPr>
            <p:ph idx="1"/>
          </p:nvPr>
        </p:nvSpPr>
        <p:spPr/>
        <p:txBody>
          <a:bodyPr/>
          <a:lstStyle/>
          <a:p>
            <a:r>
              <a:rPr lang="en-US" sz="2800" dirty="0">
                <a:latin typeface="Times New Roman" panose="02020603050405020304" pitchFamily="18" charset="0"/>
                <a:cs typeface="Times New Roman" panose="02020603050405020304" pitchFamily="18" charset="0"/>
              </a:rPr>
              <a:t>The most basic functionality of continuous integration software is to poll your version control system to see if any commits have occurred </a:t>
            </a:r>
          </a:p>
          <a:p>
            <a:r>
              <a:rPr lang="en-US" sz="2800" dirty="0">
                <a:latin typeface="Times New Roman" panose="02020603050405020304" pitchFamily="18" charset="0"/>
                <a:cs typeface="Times New Roman" panose="02020603050405020304" pitchFamily="18" charset="0"/>
              </a:rPr>
              <a:t>And, if so, check out the latest version of the software, run your build script to compile the software, run the tests, and then notify the results.</a:t>
            </a:r>
          </a:p>
          <a:p>
            <a:endParaRPr lang="en-US" dirty="0"/>
          </a:p>
        </p:txBody>
      </p:sp>
    </p:spTree>
    <p:extLst>
      <p:ext uri="{BB962C8B-B14F-4D97-AF65-F5344CB8AC3E}">
        <p14:creationId xmlns:p14="http://schemas.microsoft.com/office/powerpoint/2010/main" val="7206053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56092" y="106643"/>
            <a:ext cx="9520237" cy="3449638"/>
          </a:xfrm>
        </p:spPr>
        <p:txBody>
          <a:bodyPr>
            <a:noAutofit/>
          </a:bodyPr>
          <a:lstStyle/>
          <a:p>
            <a:r>
              <a:rPr lang="en-US" sz="2400" dirty="0">
                <a:latin typeface="Times New Roman" panose="02020603050405020304" pitchFamily="18" charset="0"/>
                <a:cs typeface="Times New Roman" panose="02020603050405020304" pitchFamily="18" charset="0"/>
              </a:rPr>
              <a:t>Basic Operation</a:t>
            </a:r>
          </a:p>
          <a:p>
            <a:r>
              <a:rPr lang="en-US" sz="2400" dirty="0">
                <a:latin typeface="Times New Roman" panose="02020603050405020304" pitchFamily="18" charset="0"/>
                <a:cs typeface="Times New Roman" panose="02020603050405020304" pitchFamily="18" charset="0"/>
              </a:rPr>
              <a:t>Continuous integration server software has two components. </a:t>
            </a:r>
          </a:p>
          <a:p>
            <a:r>
              <a:rPr lang="en-US" sz="2400" dirty="0">
                <a:latin typeface="Times New Roman" panose="02020603050405020304" pitchFamily="18" charset="0"/>
                <a:cs typeface="Times New Roman" panose="02020603050405020304" pitchFamily="18" charset="0"/>
              </a:rPr>
              <a:t>The ﬁrst is a long-running process which can execute a simple workﬂow at regular intervals. </a:t>
            </a:r>
          </a:p>
          <a:p>
            <a:r>
              <a:rPr lang="en-US" sz="2400" dirty="0">
                <a:latin typeface="Times New Roman" panose="02020603050405020304" pitchFamily="18" charset="0"/>
                <a:cs typeface="Times New Roman" panose="02020603050405020304" pitchFamily="18" charset="0"/>
              </a:rPr>
              <a:t>The second provides a view of the results of the processes that have been run, notiﬁes you of the success or failure of your build and test runs.</a:t>
            </a:r>
          </a:p>
          <a:p>
            <a:r>
              <a:rPr lang="en-US" sz="2400" dirty="0">
                <a:latin typeface="Times New Roman" panose="02020603050405020304" pitchFamily="18" charset="0"/>
                <a:cs typeface="Times New Roman" panose="02020603050405020304" pitchFamily="18" charset="0"/>
              </a:rPr>
              <a:t>The usual CI workﬂow polls your revision control system at regular intervals.</a:t>
            </a:r>
          </a:p>
          <a:p>
            <a:r>
              <a:rPr lang="en-US" sz="2400" dirty="0">
                <a:latin typeface="Times New Roman" panose="02020603050405020304" pitchFamily="18" charset="0"/>
                <a:cs typeface="Times New Roman" panose="02020603050405020304" pitchFamily="18" charset="0"/>
              </a:rPr>
              <a:t> If it detects any change, it will check out a copy of your project to a directory on the server. </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44570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09880" y="859678"/>
            <a:ext cx="9520237" cy="3449638"/>
          </a:xfrm>
        </p:spPr>
        <p:txBody>
          <a:bodyPr>
            <a:noAutofit/>
          </a:bodyPr>
          <a:lstStyle/>
          <a:p>
            <a:r>
              <a:rPr lang="en-US" sz="2400" dirty="0">
                <a:latin typeface="Times New Roman" panose="02020603050405020304" pitchFamily="18" charset="0"/>
                <a:cs typeface="Times New Roman" panose="02020603050405020304" pitchFamily="18" charset="0"/>
              </a:rPr>
              <a:t>It will then execute the commands you specify</a:t>
            </a:r>
          </a:p>
          <a:p>
            <a:r>
              <a:rPr lang="en-US" sz="2400" dirty="0">
                <a:latin typeface="Times New Roman" panose="02020603050405020304" pitchFamily="18" charset="0"/>
                <a:cs typeface="Times New Roman" panose="02020603050405020304" pitchFamily="18" charset="0"/>
              </a:rPr>
              <a:t>These commands build your application and run the relevant automated tests</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00814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Using Continuous Integration Software-</a:t>
            </a:r>
            <a:r>
              <a:rPr lang="en-US" dirty="0">
                <a:solidFill>
                  <a:srgbClr val="FF0000"/>
                </a:solidFill>
                <a:latin typeface="Times New Roman" pitchFamily="18" charset="0"/>
                <a:cs typeface="Times New Roman" pitchFamily="18" charset="0"/>
              </a:rPr>
              <a:t>Essential Practices</a:t>
            </a:r>
            <a:br>
              <a:rPr lang="en-US" dirty="0">
                <a:solidFill>
                  <a:srgbClr val="FF0000"/>
                </a:solidFill>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lstStyle/>
          <a:p>
            <a:r>
              <a:rPr lang="en-US" sz="2800" dirty="0">
                <a:latin typeface="Times New Roman" pitchFamily="18" charset="0"/>
                <a:cs typeface="Times New Roman" pitchFamily="18" charset="0"/>
              </a:rPr>
              <a:t>The objective of our CI system is to ensure that our software is working, in essence, all of the time. </a:t>
            </a:r>
          </a:p>
          <a:p>
            <a:r>
              <a:rPr lang="en-US" sz="2800" dirty="0">
                <a:latin typeface="Times New Roman" pitchFamily="18" charset="0"/>
                <a:cs typeface="Times New Roman" pitchFamily="18" charset="0"/>
              </a:rPr>
              <a:t>The practices that are enforced on the teams are mandatory for continuous integration to work. They are as follows</a:t>
            </a:r>
          </a:p>
        </p:txBody>
      </p:sp>
    </p:spTree>
    <p:extLst>
      <p:ext uri="{BB962C8B-B14F-4D97-AF65-F5344CB8AC3E}">
        <p14:creationId xmlns:p14="http://schemas.microsoft.com/office/powerpoint/2010/main" val="30341546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671763" y="804863"/>
            <a:ext cx="9520237" cy="1049337"/>
          </a:xfrm>
        </p:spPr>
        <p:txBody>
          <a:bodyPr>
            <a:normAutofit/>
          </a:bodyPr>
          <a:lstStyle/>
          <a:p>
            <a:br>
              <a:rPr lang="en-US" dirty="0">
                <a:solidFill>
                  <a:srgbClr val="FF0000"/>
                </a:solidFill>
                <a:latin typeface="Times New Roman" pitchFamily="18" charset="0"/>
                <a:cs typeface="Times New Roman" pitchFamily="18" charset="0"/>
              </a:rPr>
            </a:br>
            <a:endParaRPr lang="en-US" dirty="0"/>
          </a:p>
        </p:txBody>
      </p:sp>
      <p:sp>
        <p:nvSpPr>
          <p:cNvPr id="3" name="Content Placeholder 2"/>
          <p:cNvSpPr>
            <a:spLocks noGrp="1"/>
          </p:cNvSpPr>
          <p:nvPr>
            <p:ph idx="4294967295"/>
          </p:nvPr>
        </p:nvSpPr>
        <p:spPr>
          <a:xfrm>
            <a:off x="574022" y="1070675"/>
            <a:ext cx="9520237" cy="3449638"/>
          </a:xfrm>
        </p:spPr>
        <p:txBody>
          <a:bodyPr>
            <a:noAutofit/>
          </a:bodyPr>
          <a:lstStyle/>
          <a:p>
            <a:r>
              <a:rPr lang="en-US" sz="2800" b="1" i="1" dirty="0">
                <a:solidFill>
                  <a:srgbClr val="7030A0"/>
                </a:solidFill>
                <a:latin typeface="Times New Roman" pitchFamily="18" charset="0"/>
                <a:cs typeface="Times New Roman" pitchFamily="18" charset="0"/>
              </a:rPr>
              <a:t>Don’t Check In on a Broken Build</a:t>
            </a:r>
          </a:p>
          <a:p>
            <a:r>
              <a:rPr lang="en-US" sz="2800" dirty="0">
                <a:latin typeface="Times New Roman" pitchFamily="18" charset="0"/>
                <a:cs typeface="Times New Roman" pitchFamily="18" charset="0"/>
              </a:rPr>
              <a:t>The cardinal sin of continuous integration is checking in on a broken build.</a:t>
            </a:r>
          </a:p>
          <a:p>
            <a:r>
              <a:rPr lang="en-US" sz="2800" dirty="0">
                <a:latin typeface="Times New Roman" pitchFamily="18" charset="0"/>
                <a:cs typeface="Times New Roman" pitchFamily="18" charset="0"/>
              </a:rPr>
              <a:t>If the build breaks, the developers responsible are waiting to fix it. They identify the cause of the breakage as soon as possible and fix it</a:t>
            </a:r>
          </a:p>
        </p:txBody>
      </p:sp>
    </p:spTree>
    <p:extLst>
      <p:ext uri="{BB962C8B-B14F-4D97-AF65-F5344CB8AC3E}">
        <p14:creationId xmlns:p14="http://schemas.microsoft.com/office/powerpoint/2010/main" val="2043568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42963" y="796925"/>
            <a:ext cx="9520237" cy="3449638"/>
          </a:xfrm>
        </p:spPr>
        <p:txBody>
          <a:bodyPr>
            <a:normAutofit/>
          </a:bodyPr>
          <a:lstStyle/>
          <a:p>
            <a:r>
              <a:rPr lang="en-US" sz="2800" dirty="0">
                <a:latin typeface="Times New Roman" pitchFamily="18" charset="0"/>
                <a:cs typeface="Times New Roman" pitchFamily="18" charset="0"/>
              </a:rPr>
              <a:t>If we adopt this strategy, we will always be in the best position to work out what caused the breakage and fix it immediately. </a:t>
            </a:r>
          </a:p>
          <a:p>
            <a:r>
              <a:rPr lang="en-US" sz="2800" dirty="0">
                <a:latin typeface="Times New Roman" pitchFamily="18" charset="0"/>
                <a:cs typeface="Times New Roman" pitchFamily="18" charset="0"/>
              </a:rPr>
              <a:t>When this rule is broken, it inevitably takes much longer for the build to be fixed. People get used to seeing the build broken, and very quickly you get into a situation where the build stays broken all of the time</a:t>
            </a:r>
          </a:p>
        </p:txBody>
      </p:sp>
    </p:spTree>
    <p:extLst>
      <p:ext uri="{BB962C8B-B14F-4D97-AF65-F5344CB8AC3E}">
        <p14:creationId xmlns:p14="http://schemas.microsoft.com/office/powerpoint/2010/main" val="35843184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671763" y="804863"/>
            <a:ext cx="9520237" cy="1049337"/>
          </a:xfrm>
        </p:spPr>
        <p:txBody>
          <a:bodyPr>
            <a:normAutofit/>
          </a:bodyPr>
          <a:lstStyle/>
          <a:p>
            <a:br>
              <a:rPr lang="en-US" dirty="0">
                <a:solidFill>
                  <a:srgbClr val="FF0000"/>
                </a:solidFill>
                <a:latin typeface="Times New Roman" pitchFamily="18" charset="0"/>
                <a:cs typeface="Times New Roman" pitchFamily="18" charset="0"/>
              </a:rPr>
            </a:br>
            <a:endParaRPr lang="en-US" dirty="0"/>
          </a:p>
        </p:txBody>
      </p:sp>
      <p:sp>
        <p:nvSpPr>
          <p:cNvPr id="3" name="Content Placeholder 2"/>
          <p:cNvSpPr>
            <a:spLocks noGrp="1"/>
          </p:cNvSpPr>
          <p:nvPr>
            <p:ph idx="4294967295"/>
          </p:nvPr>
        </p:nvSpPr>
        <p:spPr>
          <a:xfrm>
            <a:off x="547128" y="465231"/>
            <a:ext cx="9520237" cy="3449638"/>
          </a:xfrm>
        </p:spPr>
        <p:txBody>
          <a:bodyPr>
            <a:normAutofit/>
          </a:bodyPr>
          <a:lstStyle/>
          <a:p>
            <a:r>
              <a:rPr lang="en-US" sz="2800" b="1" i="1" dirty="0">
                <a:solidFill>
                  <a:srgbClr val="7030A0"/>
                </a:solidFill>
                <a:latin typeface="Times New Roman" pitchFamily="18" charset="0"/>
                <a:cs typeface="Times New Roman" pitchFamily="18" charset="0"/>
              </a:rPr>
              <a:t>Always Run All Commit Tests Locally before Committing, or Get Your CI Server to Do It for You</a:t>
            </a:r>
          </a:p>
          <a:p>
            <a:r>
              <a:rPr lang="en-US" sz="2800" dirty="0">
                <a:latin typeface="Times New Roman" pitchFamily="18" charset="0"/>
                <a:cs typeface="Times New Roman" pitchFamily="18" charset="0"/>
              </a:rPr>
              <a:t>Running the commit tests locally is a sanity check before committing to the action. It is also a way to ensure that what we believe to work actually does.</a:t>
            </a:r>
          </a:p>
        </p:txBody>
      </p:sp>
    </p:spTree>
    <p:extLst>
      <p:ext uri="{BB962C8B-B14F-4D97-AF65-F5344CB8AC3E}">
        <p14:creationId xmlns:p14="http://schemas.microsoft.com/office/powerpoint/2010/main" val="7328552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Using Continuous Integration Software-</a:t>
            </a:r>
            <a:r>
              <a:rPr lang="en-US" dirty="0">
                <a:solidFill>
                  <a:srgbClr val="FF0000"/>
                </a:solidFill>
                <a:latin typeface="Times New Roman" pitchFamily="18" charset="0"/>
                <a:cs typeface="Times New Roman" pitchFamily="18" charset="0"/>
              </a:rPr>
              <a:t>Essential Practices</a:t>
            </a:r>
            <a:br>
              <a:rPr lang="en-US" dirty="0">
                <a:solidFill>
                  <a:srgbClr val="FF0000"/>
                </a:solidFill>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noAutofit/>
          </a:bodyPr>
          <a:lstStyle/>
          <a:p>
            <a:r>
              <a:rPr lang="en-US" sz="2800" dirty="0">
                <a:latin typeface="Times New Roman" pitchFamily="18" charset="0"/>
                <a:cs typeface="Times New Roman" pitchFamily="18" charset="0"/>
              </a:rPr>
              <a:t>As developers come to a pause and are ready to commit, they should refresh their local copy of the project by updating from the version control system. </a:t>
            </a:r>
          </a:p>
          <a:p>
            <a:r>
              <a:rPr lang="en-US" sz="2800" dirty="0">
                <a:latin typeface="Times New Roman" pitchFamily="18" charset="0"/>
                <a:cs typeface="Times New Roman" pitchFamily="18" charset="0"/>
              </a:rPr>
              <a:t>They should then initiate a local build and run the commit tests. </a:t>
            </a:r>
          </a:p>
          <a:p>
            <a:r>
              <a:rPr lang="en-US" sz="2800" dirty="0">
                <a:latin typeface="Times New Roman" pitchFamily="18" charset="0"/>
                <a:cs typeface="Times New Roman" pitchFamily="18" charset="0"/>
              </a:rPr>
              <a:t>Only when this is successful is the developer ready to commit the changes to the version control system.</a:t>
            </a:r>
          </a:p>
        </p:txBody>
      </p:sp>
    </p:spTree>
    <p:extLst>
      <p:ext uri="{BB962C8B-B14F-4D97-AF65-F5344CB8AC3E}">
        <p14:creationId xmlns:p14="http://schemas.microsoft.com/office/powerpoint/2010/main" val="15854059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Using Continuous Integration Software-</a:t>
            </a:r>
            <a:r>
              <a:rPr lang="en-US" dirty="0">
                <a:solidFill>
                  <a:srgbClr val="FF0000"/>
                </a:solidFill>
                <a:latin typeface="Times New Roman" pitchFamily="18" charset="0"/>
                <a:cs typeface="Times New Roman" pitchFamily="18" charset="0"/>
              </a:rPr>
              <a:t>Essential Practices</a:t>
            </a:r>
            <a:br>
              <a:rPr lang="en-US" dirty="0">
                <a:solidFill>
                  <a:srgbClr val="FF0000"/>
                </a:solidFill>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lstStyle/>
          <a:p>
            <a:r>
              <a:rPr lang="en-US" dirty="0">
                <a:latin typeface="Times New Roman" pitchFamily="18" charset="0"/>
                <a:cs typeface="Times New Roman" pitchFamily="18" charset="0"/>
              </a:rPr>
              <a:t>There are two reasons for this approach:</a:t>
            </a:r>
          </a:p>
          <a:p>
            <a:r>
              <a:rPr lang="en-US" dirty="0">
                <a:latin typeface="Times New Roman" pitchFamily="18" charset="0"/>
                <a:cs typeface="Times New Roman" pitchFamily="18" charset="0"/>
              </a:rPr>
              <a:t>1</a:t>
            </a:r>
            <a:r>
              <a:rPr lang="en-US" sz="2400" dirty="0">
                <a:latin typeface="Times New Roman" pitchFamily="18" charset="0"/>
                <a:cs typeface="Times New Roman" pitchFamily="18" charset="0"/>
              </a:rPr>
              <a:t>. Other people may have checked in before your last update from version</a:t>
            </a:r>
          </a:p>
          <a:p>
            <a:r>
              <a:rPr lang="en-US" sz="2400" dirty="0">
                <a:latin typeface="Times New Roman" pitchFamily="18" charset="0"/>
                <a:cs typeface="Times New Roman" pitchFamily="18" charset="0"/>
              </a:rPr>
              <a:t>control, and the combination of your new changes and theirs might cause</a:t>
            </a:r>
          </a:p>
          <a:p>
            <a:r>
              <a:rPr lang="en-US" sz="2400" dirty="0">
                <a:latin typeface="Times New Roman" pitchFamily="18" charset="0"/>
                <a:cs typeface="Times New Roman" pitchFamily="18" charset="0"/>
              </a:rPr>
              <a:t>tests to fail. </a:t>
            </a:r>
          </a:p>
          <a:p>
            <a:r>
              <a:rPr lang="en-US" sz="2400" dirty="0">
                <a:latin typeface="Times New Roman" pitchFamily="18" charset="0"/>
                <a:cs typeface="Times New Roman" pitchFamily="18" charset="0"/>
              </a:rPr>
              <a:t>If you check out and run the commit tests locally, you will identify this problem without breaking the build.</a:t>
            </a:r>
          </a:p>
        </p:txBody>
      </p:sp>
    </p:spTree>
    <p:extLst>
      <p:ext uri="{BB962C8B-B14F-4D97-AF65-F5344CB8AC3E}">
        <p14:creationId xmlns:p14="http://schemas.microsoft.com/office/powerpoint/2010/main" val="35240129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Using Continuous Integration Software-</a:t>
            </a:r>
            <a:r>
              <a:rPr lang="en-US" dirty="0">
                <a:solidFill>
                  <a:srgbClr val="FF0000"/>
                </a:solidFill>
                <a:latin typeface="Times New Roman" pitchFamily="18" charset="0"/>
                <a:cs typeface="Times New Roman" pitchFamily="18" charset="0"/>
              </a:rPr>
              <a:t>Essential Practices</a:t>
            </a:r>
            <a:br>
              <a:rPr lang="en-US" dirty="0">
                <a:solidFill>
                  <a:srgbClr val="FF0000"/>
                </a:solidFill>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lstStyle/>
          <a:p>
            <a:r>
              <a:rPr lang="en-US" sz="2400" dirty="0">
                <a:latin typeface="Times New Roman" pitchFamily="18" charset="0"/>
                <a:cs typeface="Times New Roman" pitchFamily="18" charset="0"/>
              </a:rPr>
              <a:t>A common source of errors on check-in is to forget to add some new artifact to the repository. </a:t>
            </a:r>
          </a:p>
          <a:p>
            <a:r>
              <a:rPr lang="en-US" sz="2400" dirty="0">
                <a:latin typeface="Times New Roman" pitchFamily="18" charset="0"/>
                <a:cs typeface="Times New Roman" pitchFamily="18" charset="0"/>
              </a:rPr>
              <a:t>If you follow this procedure, and your local build passes, and then your CI management system fails the </a:t>
            </a:r>
            <a:r>
              <a:rPr lang="en-US" sz="2400" i="1" dirty="0">
                <a:latin typeface="Times New Roman" pitchFamily="18" charset="0"/>
                <a:cs typeface="Times New Roman" pitchFamily="18" charset="0"/>
              </a:rPr>
              <a:t>commit stage</a:t>
            </a:r>
            <a:r>
              <a:rPr lang="en-US" sz="2400" dirty="0">
                <a:latin typeface="Times New Roman" pitchFamily="18" charset="0"/>
                <a:cs typeface="Times New Roman" pitchFamily="18" charset="0"/>
              </a:rPr>
              <a:t>, you know that it is either because someone checked in in the meantime, or because you forgot to add the new class or configuration file that you have just been working on into the version control system</a:t>
            </a:r>
            <a:r>
              <a:rPr lang="en-US" dirty="0">
                <a:latin typeface="Times New Roman" pitchFamily="18" charset="0"/>
                <a:cs typeface="Times New Roman" pitchFamily="18" charset="0"/>
              </a:rPr>
              <a:t>.</a:t>
            </a:r>
          </a:p>
        </p:txBody>
      </p:sp>
    </p:spTree>
    <p:extLst>
      <p:ext uri="{BB962C8B-B14F-4D97-AF65-F5344CB8AC3E}">
        <p14:creationId xmlns:p14="http://schemas.microsoft.com/office/powerpoint/2010/main" val="12152184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Using Continuous Integration Software-</a:t>
            </a:r>
            <a:r>
              <a:rPr lang="en-US" dirty="0">
                <a:solidFill>
                  <a:srgbClr val="FF0000"/>
                </a:solidFill>
                <a:latin typeface="Times New Roman" pitchFamily="18" charset="0"/>
                <a:cs typeface="Times New Roman" pitchFamily="18" charset="0"/>
              </a:rPr>
              <a:t>Essential Practices</a:t>
            </a:r>
            <a:br>
              <a:rPr lang="en-US" dirty="0">
                <a:solidFill>
                  <a:srgbClr val="FF0000"/>
                </a:solidFill>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normAutofit lnSpcReduction="10000"/>
          </a:bodyPr>
          <a:lstStyle/>
          <a:p>
            <a:r>
              <a:rPr lang="en-US" sz="2800" b="1" i="1" dirty="0">
                <a:solidFill>
                  <a:srgbClr val="0070C0"/>
                </a:solidFill>
                <a:latin typeface="Times New Roman" pitchFamily="18" charset="0"/>
                <a:cs typeface="Times New Roman" pitchFamily="18" charset="0"/>
              </a:rPr>
              <a:t>Wait for Commit Tests to Pass before Moving On</a:t>
            </a:r>
          </a:p>
          <a:p>
            <a:r>
              <a:rPr lang="en-US" sz="2400" dirty="0">
                <a:latin typeface="Times New Roman" pitchFamily="18" charset="0"/>
                <a:cs typeface="Times New Roman" pitchFamily="18" charset="0"/>
              </a:rPr>
              <a:t>At the point of check-in, the developers who made it are responsible for monitoring the build’s progress. </a:t>
            </a:r>
          </a:p>
          <a:p>
            <a:r>
              <a:rPr lang="en-US" sz="2400" dirty="0">
                <a:latin typeface="Times New Roman" pitchFamily="18" charset="0"/>
                <a:cs typeface="Times New Roman" pitchFamily="18" charset="0"/>
              </a:rPr>
              <a:t>Until their check-in has compiled and passed its </a:t>
            </a:r>
            <a:r>
              <a:rPr lang="en-US" sz="2400" i="1" dirty="0">
                <a:latin typeface="Times New Roman" pitchFamily="18" charset="0"/>
                <a:cs typeface="Times New Roman" pitchFamily="18" charset="0"/>
              </a:rPr>
              <a:t>commit tests</a:t>
            </a:r>
            <a:r>
              <a:rPr lang="en-US" sz="2400" dirty="0">
                <a:latin typeface="Times New Roman" pitchFamily="18" charset="0"/>
                <a:cs typeface="Times New Roman" pitchFamily="18" charset="0"/>
              </a:rPr>
              <a:t>, the developers should not start any new task. </a:t>
            </a:r>
          </a:p>
          <a:p>
            <a:r>
              <a:rPr lang="en-US" sz="2400" dirty="0">
                <a:latin typeface="Times New Roman" pitchFamily="18" charset="0"/>
                <a:cs typeface="Times New Roman" pitchFamily="18" charset="0"/>
              </a:rPr>
              <a:t>They should be paying sufficient attention to the build to know its outcome within a few seconds of the </a:t>
            </a:r>
            <a:r>
              <a:rPr lang="en-US" sz="2400" i="1" dirty="0">
                <a:latin typeface="Times New Roman" pitchFamily="18" charset="0"/>
                <a:cs typeface="Times New Roman" pitchFamily="18" charset="0"/>
              </a:rPr>
              <a:t>commit stage </a:t>
            </a:r>
            <a:r>
              <a:rPr lang="en-US" sz="2400" dirty="0">
                <a:latin typeface="Times New Roman" pitchFamily="18" charset="0"/>
                <a:cs typeface="Times New Roman" pitchFamily="18" charset="0"/>
              </a:rPr>
              <a:t>completing.</a:t>
            </a:r>
          </a:p>
        </p:txBody>
      </p:sp>
    </p:spTree>
    <p:extLst>
      <p:ext uri="{BB962C8B-B14F-4D97-AF65-F5344CB8AC3E}">
        <p14:creationId xmlns:p14="http://schemas.microsoft.com/office/powerpoint/2010/main" val="18479097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Using Continuous Integration Software-</a:t>
            </a:r>
            <a:r>
              <a:rPr lang="en-US" dirty="0">
                <a:solidFill>
                  <a:srgbClr val="FF0000"/>
                </a:solidFill>
                <a:latin typeface="Times New Roman" pitchFamily="18" charset="0"/>
                <a:cs typeface="Times New Roman" pitchFamily="18" charset="0"/>
              </a:rPr>
              <a:t>Essential Practices</a:t>
            </a:r>
            <a:br>
              <a:rPr lang="en-US" dirty="0">
                <a:solidFill>
                  <a:srgbClr val="FF0000"/>
                </a:solidFill>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noAutofit/>
          </a:bodyPr>
          <a:lstStyle/>
          <a:p>
            <a:r>
              <a:rPr lang="en-US" sz="2800" dirty="0">
                <a:latin typeface="Times New Roman" pitchFamily="18" charset="0"/>
                <a:cs typeface="Times New Roman" pitchFamily="18" charset="0"/>
              </a:rPr>
              <a:t>If the commit succeeds, the developers are then, and only then, free to move on to their next task. </a:t>
            </a:r>
          </a:p>
          <a:p>
            <a:r>
              <a:rPr lang="en-US" sz="2800" dirty="0">
                <a:latin typeface="Times New Roman" pitchFamily="18" charset="0"/>
                <a:cs typeface="Times New Roman" pitchFamily="18" charset="0"/>
              </a:rPr>
              <a:t>If it fails, they are at hand to start determining the nature of the problem and fixing it—with another check-in or a revert to the previous version in version control, that is, backing out their changes until they understand how to make them work.</a:t>
            </a:r>
          </a:p>
        </p:txBody>
      </p:sp>
    </p:spTree>
    <p:extLst>
      <p:ext uri="{BB962C8B-B14F-4D97-AF65-F5344CB8AC3E}">
        <p14:creationId xmlns:p14="http://schemas.microsoft.com/office/powerpoint/2010/main" val="16121007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Using Continuous Integration Software-</a:t>
            </a:r>
            <a:r>
              <a:rPr lang="en-US" dirty="0">
                <a:solidFill>
                  <a:srgbClr val="FF0000"/>
                </a:solidFill>
                <a:latin typeface="Times New Roman" pitchFamily="18" charset="0"/>
                <a:cs typeface="Times New Roman" pitchFamily="18" charset="0"/>
              </a:rPr>
              <a:t>Essential Practices</a:t>
            </a:r>
            <a:br>
              <a:rPr lang="en-US" dirty="0">
                <a:solidFill>
                  <a:srgbClr val="FF0000"/>
                </a:solidFill>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1476639" y="2175389"/>
            <a:ext cx="9520158" cy="3450613"/>
          </a:xfrm>
        </p:spPr>
        <p:txBody>
          <a:bodyPr>
            <a:normAutofit fontScale="92500" lnSpcReduction="10000"/>
          </a:bodyPr>
          <a:lstStyle/>
          <a:p>
            <a:r>
              <a:rPr lang="en-US" sz="3000" b="1" i="1" dirty="0">
                <a:solidFill>
                  <a:srgbClr val="0070C0"/>
                </a:solidFill>
                <a:latin typeface="Times New Roman" pitchFamily="18" charset="0"/>
                <a:cs typeface="Times New Roman" pitchFamily="18" charset="0"/>
              </a:rPr>
              <a:t>Never Go Home on a Broken Build</a:t>
            </a:r>
            <a:endParaRPr lang="en-US" sz="3000" i="1" dirty="0">
              <a:solidFill>
                <a:srgbClr val="0070C0"/>
              </a:solidFill>
              <a:latin typeface="Times New Roman" pitchFamily="18" charset="0"/>
              <a:cs typeface="Times New Roman" pitchFamily="18" charset="0"/>
            </a:endParaRPr>
          </a:p>
          <a:p>
            <a:r>
              <a:rPr lang="en-US" sz="2400" i="1" dirty="0">
                <a:latin typeface="Times New Roman" pitchFamily="18" charset="0"/>
                <a:cs typeface="Times New Roman" pitchFamily="18" charset="0"/>
              </a:rPr>
              <a:t>It is not recommended that you stay late to fix the build after working hours</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Rather, we recommend that you check in regularly and early enough to give yourself time to deal with problems should they occur.</a:t>
            </a:r>
          </a:p>
          <a:p>
            <a:r>
              <a:rPr lang="en-US" sz="2400" dirty="0">
                <a:latin typeface="Times New Roman" pitchFamily="18" charset="0"/>
                <a:cs typeface="Times New Roman" pitchFamily="18" charset="0"/>
              </a:rPr>
              <a:t>Alternatively, save your check-in for the next day; many experienced developers</a:t>
            </a:r>
          </a:p>
          <a:p>
            <a:r>
              <a:rPr lang="en-US" sz="2400" dirty="0">
                <a:latin typeface="Times New Roman" pitchFamily="18" charset="0"/>
                <a:cs typeface="Times New Roman" pitchFamily="18" charset="0"/>
              </a:rPr>
              <a:t>make a point of not checking in less than an hour before the end of work, and instead leave that to do first thing the next morning. </a:t>
            </a:r>
          </a:p>
        </p:txBody>
      </p:sp>
    </p:spTree>
    <p:extLst>
      <p:ext uri="{BB962C8B-B14F-4D97-AF65-F5344CB8AC3E}">
        <p14:creationId xmlns:p14="http://schemas.microsoft.com/office/powerpoint/2010/main" val="11456249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Using Continuous Integration Software-</a:t>
            </a:r>
            <a:r>
              <a:rPr lang="en-US" dirty="0">
                <a:solidFill>
                  <a:srgbClr val="FF0000"/>
                </a:solidFill>
                <a:latin typeface="Times New Roman" pitchFamily="18" charset="0"/>
                <a:cs typeface="Times New Roman" pitchFamily="18" charset="0"/>
              </a:rPr>
              <a:t>Essential Practices</a:t>
            </a:r>
            <a:br>
              <a:rPr lang="en-US" dirty="0">
                <a:solidFill>
                  <a:srgbClr val="FF0000"/>
                </a:solidFill>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lstStyle/>
          <a:p>
            <a:r>
              <a:rPr lang="en-US" sz="2800" dirty="0">
                <a:latin typeface="Times New Roman" pitchFamily="18" charset="0"/>
                <a:cs typeface="Times New Roman" pitchFamily="18" charset="0"/>
              </a:rPr>
              <a:t>If all else fails, simply revert your change from source control and leave it in your local working copy. </a:t>
            </a:r>
          </a:p>
          <a:p>
            <a:r>
              <a:rPr lang="en-US" sz="2800" dirty="0">
                <a:latin typeface="Times New Roman" pitchFamily="18" charset="0"/>
                <a:cs typeface="Times New Roman" pitchFamily="18" charset="0"/>
              </a:rPr>
              <a:t>Some version control systems, including all the distributed ones, make this easier by allowing you to accumulate check-ins within your local repository without pushing them to other users.</a:t>
            </a:r>
          </a:p>
          <a:p>
            <a:endParaRPr lang="en-US" dirty="0"/>
          </a:p>
        </p:txBody>
      </p:sp>
    </p:spTree>
    <p:extLst>
      <p:ext uri="{BB962C8B-B14F-4D97-AF65-F5344CB8AC3E}">
        <p14:creationId xmlns:p14="http://schemas.microsoft.com/office/powerpoint/2010/main" val="11675228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Using Continuous Integration Software-</a:t>
            </a:r>
            <a:r>
              <a:rPr lang="en-US" dirty="0">
                <a:solidFill>
                  <a:srgbClr val="FF0000"/>
                </a:solidFill>
                <a:latin typeface="Times New Roman" pitchFamily="18" charset="0"/>
                <a:cs typeface="Times New Roman" pitchFamily="18" charset="0"/>
              </a:rPr>
              <a:t>Essential Practices</a:t>
            </a:r>
            <a:br>
              <a:rPr lang="en-US" dirty="0">
                <a:solidFill>
                  <a:srgbClr val="FF0000"/>
                </a:solidFill>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normAutofit/>
          </a:bodyPr>
          <a:lstStyle/>
          <a:p>
            <a:r>
              <a:rPr lang="en-US" sz="2800" b="1" i="1" dirty="0">
                <a:solidFill>
                  <a:srgbClr val="0070C0"/>
                </a:solidFill>
                <a:latin typeface="Times New Roman" pitchFamily="18" charset="0"/>
                <a:cs typeface="Times New Roman" pitchFamily="18" charset="0"/>
              </a:rPr>
              <a:t>Always Be Prepared to Revert to the Previous Revision</a:t>
            </a:r>
            <a:endParaRPr lang="en-US" sz="2800" dirty="0">
              <a:solidFill>
                <a:srgbClr val="0070C0"/>
              </a:solidFill>
              <a:latin typeface="Times New Roman" pitchFamily="18" charset="0"/>
              <a:cs typeface="Times New Roman" pitchFamily="18" charset="0"/>
            </a:endParaRPr>
          </a:p>
          <a:p>
            <a:r>
              <a:rPr lang="en-US" sz="2800" dirty="0">
                <a:latin typeface="Times New Roman" pitchFamily="18" charset="0"/>
                <a:cs typeface="Times New Roman" pitchFamily="18" charset="0"/>
              </a:rPr>
              <a:t>Whatever our reaction to a failed </a:t>
            </a:r>
            <a:r>
              <a:rPr lang="en-US" sz="2800" i="1" dirty="0">
                <a:latin typeface="Times New Roman" pitchFamily="18" charset="0"/>
                <a:cs typeface="Times New Roman" pitchFamily="18" charset="0"/>
              </a:rPr>
              <a:t>commit stage</a:t>
            </a:r>
            <a:r>
              <a:rPr lang="en-US" sz="2800" dirty="0">
                <a:latin typeface="Times New Roman" pitchFamily="18" charset="0"/>
                <a:cs typeface="Times New Roman" pitchFamily="18" charset="0"/>
              </a:rPr>
              <a:t>, it is important that we get everything working again quickly. </a:t>
            </a:r>
          </a:p>
          <a:p>
            <a:r>
              <a:rPr lang="en-US" sz="2800" dirty="0">
                <a:latin typeface="Times New Roman" pitchFamily="18" charset="0"/>
                <a:cs typeface="Times New Roman" pitchFamily="18" charset="0"/>
              </a:rPr>
              <a:t>If we can’t fix the problem quickly, for whatever reason, we should revert to the previous change-set held in revision control and remedy the problem in our local environment</a:t>
            </a:r>
            <a:r>
              <a:rPr lang="en-US" dirty="0"/>
              <a:t>. </a:t>
            </a:r>
          </a:p>
        </p:txBody>
      </p:sp>
    </p:spTree>
    <p:extLst>
      <p:ext uri="{BB962C8B-B14F-4D97-AF65-F5344CB8AC3E}">
        <p14:creationId xmlns:p14="http://schemas.microsoft.com/office/powerpoint/2010/main" val="13560143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Using Continuous Integration Software-</a:t>
            </a:r>
            <a:r>
              <a:rPr lang="en-US" dirty="0">
                <a:solidFill>
                  <a:srgbClr val="FF0000"/>
                </a:solidFill>
                <a:latin typeface="Times New Roman" pitchFamily="18" charset="0"/>
                <a:cs typeface="Times New Roman" pitchFamily="18" charset="0"/>
              </a:rPr>
              <a:t>Essential Practices</a:t>
            </a:r>
            <a:br>
              <a:rPr lang="en-US" dirty="0">
                <a:solidFill>
                  <a:srgbClr val="FF0000"/>
                </a:solidFill>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normAutofit/>
          </a:bodyPr>
          <a:lstStyle/>
          <a:p>
            <a:r>
              <a:rPr lang="en-US" sz="2800" dirty="0">
                <a:latin typeface="Times New Roman" pitchFamily="18" charset="0"/>
                <a:cs typeface="Times New Roman" pitchFamily="18" charset="0"/>
              </a:rPr>
              <a:t>After all, one of the reasons that we want a revision control system in the first place is to allow us precisely this freedom to revert.</a:t>
            </a:r>
          </a:p>
          <a:p>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18291207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Using Continuous Integration Software-</a:t>
            </a:r>
            <a:r>
              <a:rPr lang="en-US" dirty="0">
                <a:solidFill>
                  <a:srgbClr val="FF0000"/>
                </a:solidFill>
                <a:latin typeface="Times New Roman" pitchFamily="18" charset="0"/>
                <a:cs typeface="Times New Roman" pitchFamily="18" charset="0"/>
              </a:rPr>
              <a:t>Essential Practices</a:t>
            </a:r>
            <a:br>
              <a:rPr lang="en-US" dirty="0">
                <a:solidFill>
                  <a:srgbClr val="FF0000"/>
                </a:solidFill>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normAutofit/>
          </a:bodyPr>
          <a:lstStyle/>
          <a:p>
            <a:r>
              <a:rPr lang="en-US" sz="2800" b="1" i="1" dirty="0">
                <a:solidFill>
                  <a:srgbClr val="0070C0"/>
                </a:solidFill>
                <a:latin typeface="Times New Roman" pitchFamily="18" charset="0"/>
                <a:cs typeface="Times New Roman" pitchFamily="18" charset="0"/>
              </a:rPr>
              <a:t>Time-Box Fixing before Reverting</a:t>
            </a:r>
          </a:p>
          <a:p>
            <a:r>
              <a:rPr lang="en-US" sz="2800" dirty="0">
                <a:latin typeface="Times New Roman" pitchFamily="18" charset="0"/>
                <a:cs typeface="Times New Roman" pitchFamily="18" charset="0"/>
              </a:rPr>
              <a:t>Establish a team rule: When the build breaks. on check-in, try to fix it for ten minutes. </a:t>
            </a:r>
          </a:p>
          <a:p>
            <a:r>
              <a:rPr lang="en-US" sz="2800" dirty="0">
                <a:latin typeface="Times New Roman" pitchFamily="18" charset="0"/>
                <a:cs typeface="Times New Roman" pitchFamily="18" charset="0"/>
              </a:rPr>
              <a:t>If, after ten minutes, you aren’t finished with the solution, revert to the previous version from your version control system. </a:t>
            </a:r>
          </a:p>
        </p:txBody>
      </p:sp>
    </p:spTree>
    <p:extLst>
      <p:ext uri="{BB962C8B-B14F-4D97-AF65-F5344CB8AC3E}">
        <p14:creationId xmlns:p14="http://schemas.microsoft.com/office/powerpoint/2010/main" val="2258781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Using Continuous Integration Software-</a:t>
            </a:r>
            <a:r>
              <a:rPr lang="en-US" dirty="0">
                <a:solidFill>
                  <a:srgbClr val="FF0000"/>
                </a:solidFill>
                <a:latin typeface="Times New Roman" pitchFamily="18" charset="0"/>
                <a:cs typeface="Times New Roman" pitchFamily="18" charset="0"/>
              </a:rPr>
              <a:t>Essential Practices</a:t>
            </a:r>
            <a:br>
              <a:rPr lang="en-US" dirty="0">
                <a:solidFill>
                  <a:srgbClr val="FF0000"/>
                </a:solidFill>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noAutofit/>
          </a:bodyPr>
          <a:lstStyle/>
          <a:p>
            <a:r>
              <a:rPr lang="en-US" sz="2800" b="1" i="1" dirty="0">
                <a:solidFill>
                  <a:srgbClr val="0070C0"/>
                </a:solidFill>
                <a:latin typeface="Times New Roman" pitchFamily="18" charset="0"/>
                <a:cs typeface="Times New Roman" pitchFamily="18" charset="0"/>
              </a:rPr>
              <a:t>Don’t Comment Out Failing Tests</a:t>
            </a:r>
          </a:p>
          <a:p>
            <a:r>
              <a:rPr lang="en-US" sz="2800" dirty="0">
                <a:latin typeface="Times New Roman" pitchFamily="18" charset="0"/>
                <a:cs typeface="Times New Roman" pitchFamily="18" charset="0"/>
              </a:rPr>
              <a:t>Commenting out tests that fail should always be a last resort, very rarely and reluctantly used, unless you are disciplined enough to fix it right away. </a:t>
            </a:r>
          </a:p>
          <a:p>
            <a:r>
              <a:rPr lang="en-US" sz="2800" dirty="0">
                <a:latin typeface="Times New Roman" pitchFamily="18" charset="0"/>
                <a:cs typeface="Times New Roman" pitchFamily="18" charset="0"/>
              </a:rPr>
              <a:t>It is OK to very occasionally comment out a test pending either some serious development work that needs to be scheduled or some extended discussions with the customer.</a:t>
            </a:r>
          </a:p>
          <a:p>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42225613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Using Continuous Integration Software-</a:t>
            </a:r>
            <a:r>
              <a:rPr lang="en-US" dirty="0">
                <a:solidFill>
                  <a:srgbClr val="FF0000"/>
                </a:solidFill>
                <a:latin typeface="Times New Roman" pitchFamily="18" charset="0"/>
                <a:cs typeface="Times New Roman" pitchFamily="18" charset="0"/>
              </a:rPr>
              <a:t>Essential Practices</a:t>
            </a:r>
            <a:br>
              <a:rPr lang="en-US" dirty="0">
                <a:solidFill>
                  <a:srgbClr val="FF0000"/>
                </a:solidFill>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noAutofit/>
          </a:bodyPr>
          <a:lstStyle/>
          <a:p>
            <a:r>
              <a:rPr lang="en-US" sz="2400" b="1" i="1" dirty="0">
                <a:solidFill>
                  <a:srgbClr val="0070C0"/>
                </a:solidFill>
                <a:latin typeface="Times New Roman" pitchFamily="18" charset="0"/>
                <a:cs typeface="Times New Roman" pitchFamily="18" charset="0"/>
              </a:rPr>
              <a:t>Take Responsibility for All Breakages That Result from Your Changes</a:t>
            </a:r>
            <a:endParaRPr lang="en-US" sz="2400" dirty="0">
              <a:solidFill>
                <a:srgbClr val="0070C0"/>
              </a:solidFill>
              <a:latin typeface="Times New Roman" pitchFamily="18" charset="0"/>
              <a:cs typeface="Times New Roman" pitchFamily="18" charset="0"/>
            </a:endParaRPr>
          </a:p>
          <a:p>
            <a:r>
              <a:rPr lang="en-US" sz="2400" dirty="0">
                <a:latin typeface="Times New Roman" pitchFamily="18" charset="0"/>
                <a:cs typeface="Times New Roman" pitchFamily="18" charset="0"/>
              </a:rPr>
              <a:t>If you commit a change and all the tests you wrote pass, but others break, the build is still broken. </a:t>
            </a:r>
          </a:p>
          <a:p>
            <a:r>
              <a:rPr lang="en-US" sz="2400" dirty="0">
                <a:latin typeface="Times New Roman" pitchFamily="18" charset="0"/>
                <a:cs typeface="Times New Roman" pitchFamily="18" charset="0"/>
              </a:rPr>
              <a:t>Usually this means that you have introduced a regression bug into the application. It is your responsibility—because you made the change—to fix all tests that are not passing as a result of your changes</a:t>
            </a:r>
          </a:p>
        </p:txBody>
      </p:sp>
    </p:spTree>
    <p:extLst>
      <p:ext uri="{BB962C8B-B14F-4D97-AF65-F5344CB8AC3E}">
        <p14:creationId xmlns:p14="http://schemas.microsoft.com/office/powerpoint/2010/main" val="214881575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Using Continuous Integration Software-</a:t>
            </a:r>
            <a:r>
              <a:rPr lang="en-US" dirty="0">
                <a:solidFill>
                  <a:srgbClr val="FF0000"/>
                </a:solidFill>
                <a:latin typeface="Times New Roman" pitchFamily="18" charset="0"/>
                <a:cs typeface="Times New Roman" pitchFamily="18" charset="0"/>
              </a:rPr>
              <a:t>Essential Practices</a:t>
            </a:r>
            <a:br>
              <a:rPr lang="en-US" dirty="0">
                <a:solidFill>
                  <a:srgbClr val="FF0000"/>
                </a:solidFill>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normAutofit/>
          </a:bodyPr>
          <a:lstStyle/>
          <a:p>
            <a:r>
              <a:rPr lang="en-US" sz="2800" b="1" i="1" dirty="0">
                <a:solidFill>
                  <a:srgbClr val="00B0F0"/>
                </a:solidFill>
                <a:latin typeface="Times New Roman" pitchFamily="18" charset="0"/>
                <a:cs typeface="Times New Roman" pitchFamily="18" charset="0"/>
              </a:rPr>
              <a:t>Test-Driven Development</a:t>
            </a:r>
          </a:p>
          <a:p>
            <a:r>
              <a:rPr lang="en-US" sz="2800" dirty="0">
                <a:latin typeface="Times New Roman" pitchFamily="18" charset="0"/>
                <a:cs typeface="Times New Roman" pitchFamily="18" charset="0"/>
              </a:rPr>
              <a:t>Having a comprehensive test suite is essential to continuous integration</a:t>
            </a:r>
          </a:p>
        </p:txBody>
      </p:sp>
    </p:spTree>
    <p:extLst>
      <p:ext uri="{BB962C8B-B14F-4D97-AF65-F5344CB8AC3E}">
        <p14:creationId xmlns:p14="http://schemas.microsoft.com/office/powerpoint/2010/main" val="70133775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Distributed Version Control Systems</a:t>
            </a:r>
          </a:p>
        </p:txBody>
      </p:sp>
      <p:sp>
        <p:nvSpPr>
          <p:cNvPr id="3" name="Content Placeholder 2"/>
          <p:cNvSpPr>
            <a:spLocks noGrp="1"/>
          </p:cNvSpPr>
          <p:nvPr>
            <p:ph idx="1"/>
          </p:nvPr>
        </p:nvSpPr>
        <p:spPr/>
        <p:txBody>
          <a:bodyPr>
            <a:noAutofit/>
          </a:bodyPr>
          <a:lstStyle/>
          <a:p>
            <a:r>
              <a:rPr lang="en-US" sz="2800" dirty="0">
                <a:latin typeface="Times New Roman" panose="02020603050405020304" pitchFamily="18" charset="0"/>
                <a:cs typeface="Times New Roman" panose="02020603050405020304" pitchFamily="18" charset="0"/>
              </a:rPr>
              <a:t>DVCSs allow you to work easily ofﬂine, commit changes locally.</a:t>
            </a:r>
          </a:p>
          <a:p>
            <a:r>
              <a:rPr lang="en-US" sz="2800" dirty="0">
                <a:latin typeface="Times New Roman" panose="02020603050405020304" pitchFamily="18" charset="0"/>
                <a:cs typeface="Times New Roman" panose="02020603050405020304" pitchFamily="18" charset="0"/>
              </a:rPr>
              <a:t>Changes to your local working copy must be checked in to your local repository before they can be pushed to other repositories.</a:t>
            </a:r>
          </a:p>
          <a:p>
            <a:r>
              <a:rPr lang="en-US" sz="2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62825192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Version Control Systems</a:t>
            </a:r>
          </a:p>
        </p:txBody>
      </p:sp>
      <p:sp>
        <p:nvSpPr>
          <p:cNvPr id="3" name="Content Placeholder 2"/>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In the GitHub model, Contributions are made by ﬁrst forking the repository of the project you wish to contribute to, making your changes, and then asking the owners of the original repository to pull your changes.</a:t>
            </a:r>
            <a:endParaRPr lang="en-US" sz="2800" dirty="0"/>
          </a:p>
        </p:txBody>
      </p:sp>
    </p:spTree>
    <p:extLst>
      <p:ext uri="{BB962C8B-B14F-4D97-AF65-F5344CB8AC3E}">
        <p14:creationId xmlns:p14="http://schemas.microsoft.com/office/powerpoint/2010/main" val="26641100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7449" y="342420"/>
            <a:ext cx="9520158" cy="1049235"/>
          </a:xfrm>
        </p:spPr>
        <p:txBody>
          <a:bodyPr>
            <a:normAutofit/>
          </a:bodyPr>
          <a:lstStyle/>
          <a:p>
            <a:pPr marL="857250" indent="-857250">
              <a:buFont typeface="+mj-lt"/>
              <a:buAutoNum type="romanUcPeriod" startAt="4"/>
            </a:pPr>
            <a:r>
              <a:rPr lang="en-US" sz="4000" b="1" u="sng" dirty="0"/>
              <a:t>Implementing a Testing Strategy</a:t>
            </a:r>
          </a:p>
        </p:txBody>
      </p:sp>
      <p:sp>
        <p:nvSpPr>
          <p:cNvPr id="3" name="Content Placeholder 2"/>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Types of Tests</a:t>
            </a:r>
          </a:p>
          <a:p>
            <a:r>
              <a:rPr lang="en-US" sz="2800" dirty="0">
                <a:latin typeface="Times New Roman" panose="02020603050405020304" pitchFamily="18" charset="0"/>
                <a:cs typeface="Times New Roman" panose="02020603050405020304" pitchFamily="18" charset="0"/>
              </a:rPr>
              <a:t>Many kinds of testing exist. Brian Marick came up with , a model of various types of tests  to ensure the delivery of a high-quality application.</a:t>
            </a:r>
          </a:p>
        </p:txBody>
      </p:sp>
    </p:spTree>
    <p:extLst>
      <p:ext uri="{BB962C8B-B14F-4D97-AF65-F5344CB8AC3E}">
        <p14:creationId xmlns:p14="http://schemas.microsoft.com/office/powerpoint/2010/main" val="132070944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6987" y="693682"/>
            <a:ext cx="9520158" cy="1049235"/>
          </a:xfrm>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04070" y="1"/>
            <a:ext cx="7559675" cy="5791200"/>
          </a:xfrm>
        </p:spPr>
      </p:pic>
    </p:spTree>
    <p:extLst>
      <p:ext uri="{BB962C8B-B14F-4D97-AF65-F5344CB8AC3E}">
        <p14:creationId xmlns:p14="http://schemas.microsoft.com/office/powerpoint/2010/main" val="295230741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4587" y="832228"/>
            <a:ext cx="9520158" cy="1049235"/>
          </a:xfrm>
        </p:spPr>
        <p:txBody>
          <a:bodyPr/>
          <a:lstStyle/>
          <a:p>
            <a:r>
              <a:rPr lang="en-US" dirty="0"/>
              <a:t>Implementing a Testing Strategy</a:t>
            </a:r>
          </a:p>
        </p:txBody>
      </p:sp>
      <p:sp>
        <p:nvSpPr>
          <p:cNvPr id="3" name="Content Placeholder 2"/>
          <p:cNvSpPr>
            <a:spLocks noGrp="1"/>
          </p:cNvSpPr>
          <p:nvPr>
            <p:ph idx="1"/>
          </p:nvPr>
        </p:nvSpPr>
        <p:spPr/>
        <p:txBody>
          <a:bodyPr>
            <a:noAutofit/>
          </a:bodyPr>
          <a:lstStyle/>
          <a:p>
            <a:pPr marL="0" indent="0">
              <a:buNone/>
            </a:pPr>
            <a:r>
              <a:rPr lang="en-US" sz="2400" dirty="0">
                <a:solidFill>
                  <a:srgbClr val="FF0000"/>
                </a:solidFill>
              </a:rPr>
              <a:t>Business-Facing Tests That Support the Development Process</a:t>
            </a:r>
          </a:p>
          <a:p>
            <a:r>
              <a:rPr lang="en-US" sz="2400" dirty="0">
                <a:latin typeface="Times New Roman" panose="02020603050405020304" pitchFamily="18" charset="0"/>
                <a:cs typeface="Times New Roman" panose="02020603050405020304" pitchFamily="18" charset="0"/>
              </a:rPr>
              <a:t>The tests in this quadrant are more commonly known as functional or acceptance tests. </a:t>
            </a:r>
          </a:p>
          <a:p>
            <a:r>
              <a:rPr lang="en-US" sz="2400" dirty="0">
                <a:latin typeface="Times New Roman" panose="02020603050405020304" pitchFamily="18" charset="0"/>
                <a:cs typeface="Times New Roman" panose="02020603050405020304" pitchFamily="18" charset="0"/>
              </a:rPr>
              <a:t>Acceptance testing ensures that the acceptance criteria for a story are met.</a:t>
            </a:r>
          </a:p>
          <a:p>
            <a:r>
              <a:rPr lang="en-US" sz="2400" dirty="0">
                <a:latin typeface="Times New Roman" panose="02020603050405020304" pitchFamily="18" charset="0"/>
                <a:cs typeface="Times New Roman" panose="02020603050405020304" pitchFamily="18" charset="0"/>
              </a:rPr>
              <a:t>Acceptance test, test all kinds of attributes , including functionality, capacity, usability, security, modiﬁability, availability, and so on</a:t>
            </a:r>
          </a:p>
        </p:txBody>
      </p:sp>
    </p:spTree>
    <p:extLst>
      <p:ext uri="{BB962C8B-B14F-4D97-AF65-F5344CB8AC3E}">
        <p14:creationId xmlns:p14="http://schemas.microsoft.com/office/powerpoint/2010/main" val="428211970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latin typeface="Times New Roman" pitchFamily="18" charset="0"/>
                <a:cs typeface="Times New Roman" pitchFamily="18" charset="0"/>
              </a:rPr>
              <a:t>Business-Facing Tests That Support the Development Process</a:t>
            </a: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Acceptance tests that concern the functionality of the system are known as functional acceptance tests.</a:t>
            </a:r>
          </a:p>
          <a:p>
            <a:r>
              <a:rPr lang="en-US" sz="2400" dirty="0">
                <a:latin typeface="Times New Roman" panose="02020603050405020304" pitchFamily="18" charset="0"/>
                <a:cs typeface="Times New Roman" panose="02020603050405020304" pitchFamily="18" charset="0"/>
              </a:rPr>
              <a:t>Acceptance tests are critical in an agile environment because they answer the questions, “How do I know when I am done?” for developers and “Did I get what I wanted?” for users</a:t>
            </a:r>
          </a:p>
        </p:txBody>
      </p:sp>
    </p:spTree>
    <p:extLst>
      <p:ext uri="{BB962C8B-B14F-4D97-AF65-F5344CB8AC3E}">
        <p14:creationId xmlns:p14="http://schemas.microsoft.com/office/powerpoint/2010/main" val="387712777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Business-Facing Tests That Support the Development Process</a:t>
            </a:r>
          </a:p>
        </p:txBody>
      </p:sp>
      <p:sp>
        <p:nvSpPr>
          <p:cNvPr id="3" name="Content Placeholder 2"/>
          <p:cNvSpPr>
            <a:spLocks noGrp="1"/>
          </p:cNvSpPr>
          <p:nvPr>
            <p:ph idx="1"/>
          </p:nvPr>
        </p:nvSpPr>
        <p:spPr/>
        <p:txBody>
          <a:bodyPr>
            <a:normAutofit fontScale="92500" lnSpcReduction="10000"/>
          </a:bodyPr>
          <a:lstStyle/>
          <a:p>
            <a:r>
              <a:rPr lang="en-US" dirty="0"/>
              <a:t> </a:t>
            </a:r>
            <a:r>
              <a:rPr lang="en-US" sz="2400" dirty="0">
                <a:latin typeface="Times New Roman" panose="02020603050405020304" pitchFamily="18" charset="0"/>
                <a:cs typeface="Times New Roman" panose="02020603050405020304" pitchFamily="18" charset="0"/>
              </a:rPr>
              <a:t>For each story or requirement there is a single ordered path through the application in terms of the actions that the user will perform. This is known as </a:t>
            </a:r>
            <a:r>
              <a:rPr lang="en-US" sz="2400" dirty="0">
                <a:solidFill>
                  <a:srgbClr val="FF0000"/>
                </a:solidFill>
                <a:latin typeface="Times New Roman" panose="02020603050405020304" pitchFamily="18" charset="0"/>
                <a:cs typeface="Times New Roman" panose="02020603050405020304" pitchFamily="18" charset="0"/>
              </a:rPr>
              <a:t>the happy path.</a:t>
            </a:r>
          </a:p>
          <a:p>
            <a:r>
              <a:rPr lang="en-US" sz="2400" dirty="0">
                <a:latin typeface="Times New Roman" panose="02020603050405020304" pitchFamily="18" charset="0"/>
                <a:cs typeface="Times New Roman" panose="02020603050405020304" pitchFamily="18" charset="0"/>
              </a:rPr>
              <a:t>This is often expressed using the form “Given [a few important characteristics of the state of the system when testing begins], when [the user performs some set of actions], then [a few important characteristics of the new state of the system] will result.” </a:t>
            </a:r>
          </a:p>
          <a:p>
            <a:r>
              <a:rPr lang="en-US" sz="2400" dirty="0">
                <a:latin typeface="Times New Roman" panose="02020603050405020304" pitchFamily="18" charset="0"/>
                <a:cs typeface="Times New Roman" panose="02020603050405020304" pitchFamily="18" charset="0"/>
              </a:rPr>
              <a:t>This is sometimes referred to as the “given-when-then” model for tests</a:t>
            </a:r>
          </a:p>
          <a:p>
            <a:endParaRPr lang="en-US" dirty="0"/>
          </a:p>
        </p:txBody>
      </p:sp>
    </p:spTree>
    <p:extLst>
      <p:ext uri="{BB962C8B-B14F-4D97-AF65-F5344CB8AC3E}">
        <p14:creationId xmlns:p14="http://schemas.microsoft.com/office/powerpoint/2010/main" val="381114977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Business-Facing Tests That Support the Development Process</a:t>
            </a:r>
          </a:p>
        </p:txBody>
      </p:sp>
      <p:sp>
        <p:nvSpPr>
          <p:cNvPr id="3" name="Content Placeholder 2"/>
          <p:cNvSpPr>
            <a:spLocks noGrp="1"/>
          </p:cNvSpPr>
          <p:nvPr>
            <p:ph idx="1"/>
          </p:nvPr>
        </p:nvSpPr>
        <p:spPr/>
        <p:txBody>
          <a:bodyPr>
            <a:noAutofit/>
          </a:bodyPr>
          <a:lstStyle/>
          <a:p>
            <a:r>
              <a:rPr lang="en-US" sz="2800" dirty="0">
                <a:latin typeface="Times New Roman" panose="02020603050405020304" pitchFamily="18" charset="0"/>
                <a:cs typeface="Times New Roman" panose="02020603050405020304" pitchFamily="18" charset="0"/>
              </a:rPr>
              <a:t>It is also allowed to have variations in the initial state, the actions to be performed, and the ﬁnal state of the application.</a:t>
            </a:r>
          </a:p>
          <a:p>
            <a:r>
              <a:rPr lang="en-US" sz="2800" dirty="0">
                <a:latin typeface="Times New Roman" panose="02020603050405020304" pitchFamily="18" charset="0"/>
                <a:cs typeface="Times New Roman" panose="02020603050405020304" pitchFamily="18" charset="0"/>
              </a:rPr>
              <a:t> Sometimes, these variations constitute distinct use cases, which are then known as </a:t>
            </a:r>
            <a:r>
              <a:rPr lang="en-US" sz="2800" dirty="0">
                <a:solidFill>
                  <a:srgbClr val="FF0000"/>
                </a:solidFill>
                <a:latin typeface="Times New Roman" panose="02020603050405020304" pitchFamily="18" charset="0"/>
                <a:cs typeface="Times New Roman" panose="02020603050405020304" pitchFamily="18" charset="0"/>
              </a:rPr>
              <a:t>alternate paths. </a:t>
            </a:r>
          </a:p>
          <a:p>
            <a:r>
              <a:rPr lang="en-US" sz="2800" dirty="0">
                <a:latin typeface="Times New Roman" panose="02020603050405020304" pitchFamily="18" charset="0"/>
                <a:cs typeface="Times New Roman" panose="02020603050405020304" pitchFamily="18" charset="0"/>
              </a:rPr>
              <a:t>In other cases, they should cause error conditions, resulting in what is called </a:t>
            </a:r>
            <a:r>
              <a:rPr lang="en-US" sz="2800" dirty="0">
                <a:solidFill>
                  <a:srgbClr val="FF0000"/>
                </a:solidFill>
                <a:latin typeface="Times New Roman" panose="02020603050405020304" pitchFamily="18" charset="0"/>
                <a:cs typeface="Times New Roman" panose="02020603050405020304" pitchFamily="18" charset="0"/>
              </a:rPr>
              <a:t>sad paths.</a:t>
            </a:r>
          </a:p>
        </p:txBody>
      </p:sp>
    </p:spTree>
    <p:extLst>
      <p:ext uri="{BB962C8B-B14F-4D97-AF65-F5344CB8AC3E}">
        <p14:creationId xmlns:p14="http://schemas.microsoft.com/office/powerpoint/2010/main" val="221396354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Business-Facing Tests That Support the Development Process</a:t>
            </a:r>
          </a:p>
        </p:txBody>
      </p:sp>
      <p:sp>
        <p:nvSpPr>
          <p:cNvPr id="3" name="Content Placeholder 2"/>
          <p:cNvSpPr>
            <a:spLocks noGrp="1"/>
          </p:cNvSpPr>
          <p:nvPr>
            <p:ph idx="1"/>
          </p:nvPr>
        </p:nvSpPr>
        <p:spPr/>
        <p:txBody>
          <a:bodyPr>
            <a:normAutofit fontScale="92500" lnSpcReduction="20000"/>
          </a:bodyPr>
          <a:lstStyle/>
          <a:p>
            <a:r>
              <a:rPr lang="en-US" sz="2800" b="1" dirty="0">
                <a:latin typeface="Times New Roman" pitchFamily="18" charset="0"/>
                <a:cs typeface="Times New Roman" pitchFamily="18" charset="0"/>
              </a:rPr>
              <a:t>Automating Acceptance Tests</a:t>
            </a:r>
          </a:p>
          <a:p>
            <a:r>
              <a:rPr lang="en-US" sz="2800" dirty="0"/>
              <a:t>Automated acceptance tests have a number of valuable properties:</a:t>
            </a:r>
            <a:endParaRPr lang="en-US" sz="2800" b="1" dirty="0">
              <a:latin typeface="Times New Roman" pitchFamily="18" charset="0"/>
              <a:cs typeface="Times New Roman" pitchFamily="18" charset="0"/>
            </a:endParaRPr>
          </a:p>
          <a:p>
            <a:r>
              <a:rPr lang="en-US" sz="2800" dirty="0">
                <a:latin typeface="Times New Roman" pitchFamily="18" charset="0"/>
                <a:cs typeface="Times New Roman" pitchFamily="18" charset="0"/>
              </a:rPr>
              <a:t>They make the feedback loop faster—developers can run automated tests to find out if they have completed a particular requirement without having to go to testers.</a:t>
            </a:r>
          </a:p>
          <a:p>
            <a:r>
              <a:rPr lang="en-US" sz="2800" dirty="0">
                <a:latin typeface="Times New Roman" pitchFamily="18" charset="0"/>
                <a:cs typeface="Times New Roman" pitchFamily="18" charset="0"/>
              </a:rPr>
              <a:t>They reduce the workload on testers.</a:t>
            </a:r>
          </a:p>
        </p:txBody>
      </p:sp>
    </p:spTree>
    <p:extLst>
      <p:ext uri="{BB962C8B-B14F-4D97-AF65-F5344CB8AC3E}">
        <p14:creationId xmlns:p14="http://schemas.microsoft.com/office/powerpoint/2010/main" val="115328161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Business-Facing Tests That Support the Development Process</a:t>
            </a:r>
            <a:br>
              <a:rPr lang="en-US" dirty="0"/>
            </a:br>
            <a:endParaRPr lang="en-US" dirty="0"/>
          </a:p>
        </p:txBody>
      </p:sp>
      <p:sp>
        <p:nvSpPr>
          <p:cNvPr id="3" name="Content Placeholder 2"/>
          <p:cNvSpPr>
            <a:spLocks noGrp="1"/>
          </p:cNvSpPr>
          <p:nvPr>
            <p:ph idx="1"/>
          </p:nvPr>
        </p:nvSpPr>
        <p:spPr/>
        <p:txBody>
          <a:bodyPr>
            <a:noAutofit/>
          </a:bodyPr>
          <a:lstStyle/>
          <a:p>
            <a:r>
              <a:rPr lang="en-US" sz="2800" dirty="0">
                <a:latin typeface="Times New Roman" pitchFamily="18" charset="0"/>
                <a:cs typeface="Times New Roman" pitchFamily="18" charset="0"/>
              </a:rPr>
              <a:t>Acceptance tests represent a powerful regression test suite. when writing large applications where  many modules are being used and changes to one part of the application affect other features.</a:t>
            </a:r>
          </a:p>
          <a:p>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29298098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Business-Facing Tests That Support the Development Process</a:t>
            </a:r>
            <a:br>
              <a:rPr lang="en-US" dirty="0"/>
            </a:br>
            <a:endParaRPr lang="en-US" dirty="0"/>
          </a:p>
        </p:txBody>
      </p:sp>
      <p:sp>
        <p:nvSpPr>
          <p:cNvPr id="3" name="Content Placeholder 2"/>
          <p:cNvSpPr>
            <a:spLocks noGrp="1"/>
          </p:cNvSpPr>
          <p:nvPr>
            <p:ph idx="1"/>
          </p:nvPr>
        </p:nvSpPr>
        <p:spPr/>
        <p:txBody>
          <a:bodyPr>
            <a:normAutofit/>
          </a:bodyPr>
          <a:lstStyle/>
          <a:p>
            <a:r>
              <a:rPr lang="en-US" sz="2800" dirty="0">
                <a:latin typeface="Times New Roman" pitchFamily="18" charset="0"/>
                <a:cs typeface="Times New Roman" pitchFamily="18" charset="0"/>
              </a:rPr>
              <a:t>By using human-readable test and test suite names, , it is possible to auto generate requirements documentation from your tests</a:t>
            </a:r>
          </a:p>
        </p:txBody>
      </p:sp>
    </p:spTree>
    <p:extLst>
      <p:ext uri="{BB962C8B-B14F-4D97-AF65-F5344CB8AC3E}">
        <p14:creationId xmlns:p14="http://schemas.microsoft.com/office/powerpoint/2010/main" val="319837883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Business-Facing Tests That Support the Development Process</a:t>
            </a:r>
            <a:br>
              <a:rPr lang="en-US" dirty="0"/>
            </a:br>
            <a:endParaRPr lang="en-US" dirty="0"/>
          </a:p>
        </p:txBody>
      </p:sp>
      <p:sp>
        <p:nvSpPr>
          <p:cNvPr id="3" name="Content Placeholder 2"/>
          <p:cNvSpPr>
            <a:spLocks noGrp="1"/>
          </p:cNvSpPr>
          <p:nvPr>
            <p:ph idx="1"/>
          </p:nvPr>
        </p:nvSpPr>
        <p:spPr/>
        <p:txBody>
          <a:bodyPr>
            <a:noAutofit/>
          </a:bodyPr>
          <a:lstStyle/>
          <a:p>
            <a:r>
              <a:rPr lang="en-US" sz="2800" dirty="0">
                <a:solidFill>
                  <a:srgbClr val="FF0000"/>
                </a:solidFill>
                <a:latin typeface="Times New Roman" pitchFamily="18" charset="0"/>
                <a:cs typeface="Times New Roman" pitchFamily="18" charset="0"/>
              </a:rPr>
              <a:t>Regression tests  </a:t>
            </a:r>
            <a:r>
              <a:rPr lang="en-US" sz="2800" dirty="0">
                <a:latin typeface="Times New Roman" pitchFamily="18" charset="0"/>
                <a:cs typeface="Times New Roman" pitchFamily="18" charset="0"/>
              </a:rPr>
              <a:t>serve to ensure that when you make a change you don’t break existing functionality.</a:t>
            </a:r>
          </a:p>
          <a:p>
            <a:r>
              <a:rPr lang="en-US" sz="2800" dirty="0">
                <a:latin typeface="Times New Roman" pitchFamily="18" charset="0"/>
                <a:cs typeface="Times New Roman" pitchFamily="18" charset="0"/>
              </a:rPr>
              <a:t>They also make it possible to easily refactor code by verifying that you haven’t changed any behavior when refactoring is done.</a:t>
            </a:r>
          </a:p>
        </p:txBody>
      </p:sp>
    </p:spTree>
    <p:extLst>
      <p:ext uri="{BB962C8B-B14F-4D97-AF65-F5344CB8AC3E}">
        <p14:creationId xmlns:p14="http://schemas.microsoft.com/office/powerpoint/2010/main" val="362579728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a:solidFill>
                  <a:srgbClr val="FF0000"/>
                </a:solidFill>
                <a:latin typeface="Times New Roman" pitchFamily="18" charset="0"/>
                <a:cs typeface="Times New Roman" pitchFamily="18" charset="0"/>
              </a:rPr>
              <a:t>A good rule of thumb </a:t>
            </a:r>
            <a:r>
              <a:rPr lang="en-US" sz="2800" dirty="0">
                <a:latin typeface="Times New Roman" pitchFamily="18" charset="0"/>
                <a:cs typeface="Times New Roman" pitchFamily="18" charset="0"/>
              </a:rPr>
              <a:t>is to automate once you have repeated the same test a couple of times, and when you are confident that you won’t end up spending a lot of time maintaining the test.</a:t>
            </a:r>
          </a:p>
        </p:txBody>
      </p:sp>
    </p:spTree>
    <p:extLst>
      <p:ext uri="{BB962C8B-B14F-4D97-AF65-F5344CB8AC3E}">
        <p14:creationId xmlns:p14="http://schemas.microsoft.com/office/powerpoint/2010/main" val="316164312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Technology-Facing Tests That Support the Development Process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r>
              <a:rPr lang="en-US" sz="2800" dirty="0">
                <a:latin typeface="Times New Roman" pitchFamily="18" charset="0"/>
                <a:cs typeface="Times New Roman" pitchFamily="18" charset="0"/>
              </a:rPr>
              <a:t>There are three kinds of tests that fall into this category: unit tests, component tests, and deployment tests.</a:t>
            </a:r>
          </a:p>
          <a:p>
            <a:r>
              <a:rPr lang="en-US" sz="2800" dirty="0">
                <a:solidFill>
                  <a:srgbClr val="FF0000"/>
                </a:solidFill>
                <a:latin typeface="Times New Roman" pitchFamily="18" charset="0"/>
                <a:cs typeface="Times New Roman" pitchFamily="18" charset="0"/>
              </a:rPr>
              <a:t>Unit tests </a:t>
            </a:r>
            <a:r>
              <a:rPr lang="en-US" sz="2800" dirty="0">
                <a:latin typeface="Times New Roman" pitchFamily="18" charset="0"/>
                <a:cs typeface="Times New Roman" pitchFamily="18" charset="0"/>
              </a:rPr>
              <a:t>test a particular piece of the code in isolation.</a:t>
            </a:r>
          </a:p>
          <a:p>
            <a:r>
              <a:rPr lang="en-US" sz="2800" dirty="0">
                <a:latin typeface="Times New Roman" pitchFamily="18" charset="0"/>
                <a:cs typeface="Times New Roman" pitchFamily="18" charset="0"/>
              </a:rPr>
              <a:t>Unit tests should not involve calling the database, using the </a:t>
            </a:r>
            <a:r>
              <a:rPr lang="en-US" sz="2800" dirty="0" err="1">
                <a:latin typeface="Times New Roman" pitchFamily="18" charset="0"/>
                <a:cs typeface="Times New Roman" pitchFamily="18" charset="0"/>
              </a:rPr>
              <a:t>filesystem</a:t>
            </a:r>
            <a:r>
              <a:rPr lang="en-US" sz="2800" dirty="0">
                <a:latin typeface="Times New Roman" pitchFamily="18" charset="0"/>
                <a:cs typeface="Times New Roman" pitchFamily="18" charset="0"/>
              </a:rPr>
              <a:t> or interaction between components of a system</a:t>
            </a:r>
          </a:p>
        </p:txBody>
      </p:sp>
    </p:spTree>
    <p:extLst>
      <p:ext uri="{BB962C8B-B14F-4D97-AF65-F5344CB8AC3E}">
        <p14:creationId xmlns:p14="http://schemas.microsoft.com/office/powerpoint/2010/main" val="415633702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Technology-Facing Tests That Support the Development Process</a:t>
            </a:r>
            <a:endParaRPr lang="en-US" dirty="0"/>
          </a:p>
        </p:txBody>
      </p:sp>
      <p:sp>
        <p:nvSpPr>
          <p:cNvPr id="3" name="Content Placeholder 2"/>
          <p:cNvSpPr>
            <a:spLocks noGrp="1"/>
          </p:cNvSpPr>
          <p:nvPr>
            <p:ph idx="1"/>
          </p:nvPr>
        </p:nvSpPr>
        <p:spPr/>
        <p:txBody>
          <a:bodyPr>
            <a:normAutofit/>
          </a:bodyPr>
          <a:lstStyle/>
          <a:p>
            <a:r>
              <a:rPr lang="en-US" sz="2800" dirty="0">
                <a:solidFill>
                  <a:srgbClr val="FF0000"/>
                </a:solidFill>
                <a:latin typeface="Times New Roman" pitchFamily="18" charset="0"/>
                <a:cs typeface="Times New Roman" pitchFamily="18" charset="0"/>
              </a:rPr>
              <a:t>Component tests </a:t>
            </a:r>
            <a:r>
              <a:rPr lang="en-US" sz="2800" dirty="0">
                <a:latin typeface="Times New Roman" pitchFamily="18" charset="0"/>
                <a:cs typeface="Times New Roman" pitchFamily="18" charset="0"/>
              </a:rPr>
              <a:t>test larger clusters of functionality. They   perform more I/O, talking to databases, the </a:t>
            </a:r>
            <a:r>
              <a:rPr lang="en-US" sz="2800" dirty="0" err="1">
                <a:latin typeface="Times New Roman" pitchFamily="18" charset="0"/>
                <a:cs typeface="Times New Roman" pitchFamily="18" charset="0"/>
              </a:rPr>
              <a:t>filesystem</a:t>
            </a:r>
            <a:r>
              <a:rPr lang="en-US" sz="2800" dirty="0">
                <a:latin typeface="Times New Roman" pitchFamily="18" charset="0"/>
                <a:cs typeface="Times New Roman" pitchFamily="18" charset="0"/>
              </a:rPr>
              <a:t>, or other systems.</a:t>
            </a:r>
          </a:p>
          <a:p>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64824318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Technology-Facing Tests That Support the Development Process</a:t>
            </a:r>
            <a:endParaRPr lang="en-US" dirty="0"/>
          </a:p>
        </p:txBody>
      </p:sp>
      <p:sp>
        <p:nvSpPr>
          <p:cNvPr id="3" name="Content Placeholder 2"/>
          <p:cNvSpPr>
            <a:spLocks noGrp="1"/>
          </p:cNvSpPr>
          <p:nvPr>
            <p:ph idx="1"/>
          </p:nvPr>
        </p:nvSpPr>
        <p:spPr/>
        <p:txBody>
          <a:bodyPr>
            <a:normAutofit/>
          </a:bodyPr>
          <a:lstStyle/>
          <a:p>
            <a:r>
              <a:rPr lang="en-US" sz="2800" dirty="0">
                <a:solidFill>
                  <a:srgbClr val="FF0000"/>
                </a:solidFill>
                <a:latin typeface="Times New Roman" pitchFamily="18" charset="0"/>
                <a:cs typeface="Times New Roman" pitchFamily="18" charset="0"/>
              </a:rPr>
              <a:t>Deployment tests </a:t>
            </a:r>
            <a:r>
              <a:rPr lang="en-US" sz="2800" dirty="0">
                <a:latin typeface="Times New Roman" pitchFamily="18" charset="0"/>
                <a:cs typeface="Times New Roman" pitchFamily="18" charset="0"/>
              </a:rPr>
              <a:t>are performed whenever you deploy your application. </a:t>
            </a:r>
          </a:p>
          <a:p>
            <a:r>
              <a:rPr lang="en-US" sz="2800" dirty="0">
                <a:latin typeface="Times New Roman" pitchFamily="18" charset="0"/>
                <a:cs typeface="Times New Roman" pitchFamily="18" charset="0"/>
              </a:rPr>
              <a:t>They check that your application is correctly installed, correctly configured, able to contact any services it requires, and that it is responding.</a:t>
            </a:r>
          </a:p>
        </p:txBody>
      </p:sp>
    </p:spTree>
    <p:extLst>
      <p:ext uri="{BB962C8B-B14F-4D97-AF65-F5344CB8AC3E}">
        <p14:creationId xmlns:p14="http://schemas.microsoft.com/office/powerpoint/2010/main" val="177970900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Business-Facing Tests That Critique the Project</a:t>
            </a:r>
            <a:endParaRPr lang="en-US" dirty="0"/>
          </a:p>
        </p:txBody>
      </p:sp>
      <p:sp>
        <p:nvSpPr>
          <p:cNvPr id="3" name="Content Placeholder 2"/>
          <p:cNvSpPr>
            <a:spLocks noGrp="1"/>
          </p:cNvSpPr>
          <p:nvPr>
            <p:ph idx="1"/>
          </p:nvPr>
        </p:nvSpPr>
        <p:spPr/>
        <p:txBody>
          <a:bodyPr>
            <a:noAutofit/>
          </a:bodyPr>
          <a:lstStyle/>
          <a:p>
            <a:r>
              <a:rPr lang="en-US" sz="2800" dirty="0">
                <a:latin typeface="Times New Roman" pitchFamily="18" charset="0"/>
                <a:cs typeface="Times New Roman" pitchFamily="18" charset="0"/>
              </a:rPr>
              <a:t>These manual tests verify that the application will in fact deliver to the users the value they are expecting.</a:t>
            </a:r>
          </a:p>
          <a:p>
            <a:r>
              <a:rPr lang="en-US" sz="2800" dirty="0">
                <a:latin typeface="Times New Roman" pitchFamily="18" charset="0"/>
                <a:cs typeface="Times New Roman" pitchFamily="18" charset="0"/>
              </a:rPr>
              <a:t>This is not just a matter of verifying that the application meets its specifications; it is also about checking that the specifications are correct</a:t>
            </a:r>
          </a:p>
        </p:txBody>
      </p:sp>
    </p:spTree>
    <p:extLst>
      <p:ext uri="{BB962C8B-B14F-4D97-AF65-F5344CB8AC3E}">
        <p14:creationId xmlns:p14="http://schemas.microsoft.com/office/powerpoint/2010/main" val="90021586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Business-Facing Tests That Critique the Project</a:t>
            </a:r>
            <a:endParaRPr lang="en-US" dirty="0"/>
          </a:p>
        </p:txBody>
      </p:sp>
      <p:sp>
        <p:nvSpPr>
          <p:cNvPr id="3" name="Content Placeholder 2"/>
          <p:cNvSpPr>
            <a:spLocks noGrp="1"/>
          </p:cNvSpPr>
          <p:nvPr>
            <p:ph idx="1"/>
          </p:nvPr>
        </p:nvSpPr>
        <p:spPr/>
        <p:txBody>
          <a:bodyPr>
            <a:noAutofit/>
          </a:bodyPr>
          <a:lstStyle/>
          <a:p>
            <a:r>
              <a:rPr lang="en-US" sz="2400" dirty="0">
                <a:latin typeface="Times New Roman" pitchFamily="18" charset="0"/>
                <a:cs typeface="Times New Roman" pitchFamily="18" charset="0"/>
              </a:rPr>
              <a:t>A particularly important form of business-facing, project-critique tests are</a:t>
            </a:r>
          </a:p>
          <a:p>
            <a:r>
              <a:rPr lang="en-US" sz="2400" dirty="0">
                <a:solidFill>
                  <a:srgbClr val="FF0000"/>
                </a:solidFill>
                <a:latin typeface="Times New Roman" pitchFamily="18" charset="0"/>
                <a:cs typeface="Times New Roman" pitchFamily="18" charset="0"/>
              </a:rPr>
              <a:t>Showcases.</a:t>
            </a:r>
          </a:p>
          <a:p>
            <a:r>
              <a:rPr lang="en-US" sz="2400" dirty="0">
                <a:latin typeface="Times New Roman" pitchFamily="18" charset="0"/>
                <a:cs typeface="Times New Roman" pitchFamily="18" charset="0"/>
              </a:rPr>
              <a:t> Agile teams perform showcases to users at the end of every iteration to demonstrate the new functionality that they have delivered.</a:t>
            </a:r>
          </a:p>
          <a:p>
            <a:r>
              <a:rPr lang="en-US" sz="2400" dirty="0">
                <a:latin typeface="Times New Roman" pitchFamily="18" charset="0"/>
                <a:cs typeface="Times New Roman" pitchFamily="18" charset="0"/>
              </a:rPr>
              <a:t>Functionality should also be demonstrated to customers as often as possible during development, so as to ensure that any misunderstandings or specification problems are caught as early as possible</a:t>
            </a:r>
          </a:p>
        </p:txBody>
      </p:sp>
    </p:spTree>
    <p:extLst>
      <p:ext uri="{BB962C8B-B14F-4D97-AF65-F5344CB8AC3E}">
        <p14:creationId xmlns:p14="http://schemas.microsoft.com/office/powerpoint/2010/main" val="407963042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Business-Facing Tests That Critique the Project</a:t>
            </a:r>
            <a:endParaRPr lang="en-US" dirty="0"/>
          </a:p>
        </p:txBody>
      </p:sp>
      <p:sp>
        <p:nvSpPr>
          <p:cNvPr id="3" name="Content Placeholder 2"/>
          <p:cNvSpPr>
            <a:spLocks noGrp="1"/>
          </p:cNvSpPr>
          <p:nvPr>
            <p:ph idx="1"/>
          </p:nvPr>
        </p:nvSpPr>
        <p:spPr/>
        <p:txBody>
          <a:bodyPr>
            <a:normAutofit/>
          </a:bodyPr>
          <a:lstStyle/>
          <a:p>
            <a:r>
              <a:rPr lang="en-US" sz="2800" dirty="0">
                <a:solidFill>
                  <a:srgbClr val="FF0000"/>
                </a:solidFill>
                <a:latin typeface="Times New Roman" pitchFamily="18" charset="0"/>
                <a:cs typeface="Times New Roman" pitchFamily="18" charset="0"/>
              </a:rPr>
              <a:t>Showcases</a:t>
            </a:r>
            <a:r>
              <a:rPr lang="en-US" sz="2800" dirty="0">
                <a:latin typeface="Times New Roman" pitchFamily="18" charset="0"/>
                <a:cs typeface="Times New Roman" pitchFamily="18" charset="0"/>
              </a:rPr>
              <a:t> can be both a blessing and a curse—users love getting their hands on new stuff and playing around with it. </a:t>
            </a:r>
          </a:p>
          <a:p>
            <a:r>
              <a:rPr lang="en-US" sz="2800" dirty="0">
                <a:latin typeface="Times New Roman" pitchFamily="18" charset="0"/>
                <a:cs typeface="Times New Roman" pitchFamily="18" charset="0"/>
              </a:rPr>
              <a:t>But they  have plenty of suggestions for improvement.</a:t>
            </a:r>
          </a:p>
          <a:p>
            <a:r>
              <a:rPr lang="en-US" sz="2800" dirty="0">
                <a:latin typeface="Times New Roman" pitchFamily="18" charset="0"/>
                <a:cs typeface="Times New Roman" pitchFamily="18" charset="0"/>
              </a:rPr>
              <a:t>At this point, the customer and the project team have to decide how much they want to change the project’s plan to incorporate these suggestions</a:t>
            </a:r>
          </a:p>
        </p:txBody>
      </p:sp>
    </p:spTree>
    <p:extLst>
      <p:ext uri="{BB962C8B-B14F-4D97-AF65-F5344CB8AC3E}">
        <p14:creationId xmlns:p14="http://schemas.microsoft.com/office/powerpoint/2010/main" val="269165681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Business-Facing Tests That Critique the Project</a:t>
            </a:r>
            <a:endParaRPr lang="en-US" dirty="0"/>
          </a:p>
        </p:txBody>
      </p:sp>
      <p:sp>
        <p:nvSpPr>
          <p:cNvPr id="3" name="Content Placeholder 2"/>
          <p:cNvSpPr>
            <a:spLocks noGrp="1"/>
          </p:cNvSpPr>
          <p:nvPr>
            <p:ph idx="1"/>
          </p:nvPr>
        </p:nvSpPr>
        <p:spPr/>
        <p:txBody>
          <a:bodyPr>
            <a:normAutofit/>
          </a:bodyPr>
          <a:lstStyle/>
          <a:p>
            <a:r>
              <a:rPr lang="en-US" sz="2400" dirty="0">
                <a:solidFill>
                  <a:srgbClr val="FF0000"/>
                </a:solidFill>
                <a:latin typeface="Times New Roman" pitchFamily="18" charset="0"/>
                <a:cs typeface="Times New Roman" pitchFamily="18" charset="0"/>
              </a:rPr>
              <a:t>Exploratory testing </a:t>
            </a:r>
            <a:r>
              <a:rPr lang="en-US" sz="2400" dirty="0">
                <a:latin typeface="Times New Roman" pitchFamily="18" charset="0"/>
                <a:cs typeface="Times New Roman" pitchFamily="18" charset="0"/>
              </a:rPr>
              <a:t>is  a form of manual testing in which “the tester actively controls the design of the tests as those tests are performed and uses information gained while testing to design new and better tests.”</a:t>
            </a:r>
          </a:p>
          <a:p>
            <a:r>
              <a:rPr lang="en-US" sz="2400" dirty="0">
                <a:latin typeface="Times New Roman" pitchFamily="18" charset="0"/>
                <a:cs typeface="Times New Roman" pitchFamily="18" charset="0"/>
              </a:rPr>
              <a:t> Creative learning process that will not only discover bugs, but also lead to the creation of new sets of automated tests,  feed into new requirements for the application</a:t>
            </a:r>
          </a:p>
        </p:txBody>
      </p:sp>
    </p:spTree>
    <p:extLst>
      <p:ext uri="{BB962C8B-B14F-4D97-AF65-F5344CB8AC3E}">
        <p14:creationId xmlns:p14="http://schemas.microsoft.com/office/powerpoint/2010/main" val="62683329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Business-Facing Tests That Critique the Project</a:t>
            </a:r>
            <a:endParaRPr lang="en-US" dirty="0"/>
          </a:p>
        </p:txBody>
      </p:sp>
      <p:sp>
        <p:nvSpPr>
          <p:cNvPr id="3" name="Content Placeholder 2"/>
          <p:cNvSpPr>
            <a:spLocks noGrp="1"/>
          </p:cNvSpPr>
          <p:nvPr>
            <p:ph idx="1"/>
          </p:nvPr>
        </p:nvSpPr>
        <p:spPr/>
        <p:txBody>
          <a:bodyPr>
            <a:noAutofit/>
          </a:bodyPr>
          <a:lstStyle/>
          <a:p>
            <a:r>
              <a:rPr lang="en-US" sz="2400" dirty="0">
                <a:solidFill>
                  <a:srgbClr val="FF0000"/>
                </a:solidFill>
                <a:latin typeface="Times New Roman" pitchFamily="18" charset="0"/>
                <a:cs typeface="Times New Roman" pitchFamily="18" charset="0"/>
              </a:rPr>
              <a:t>Usability testing </a:t>
            </a:r>
            <a:r>
              <a:rPr lang="en-US" sz="2400" dirty="0">
                <a:latin typeface="Times New Roman" pitchFamily="18" charset="0"/>
                <a:cs typeface="Times New Roman" pitchFamily="18" charset="0"/>
              </a:rPr>
              <a:t>is done to discover how easy it is for users to accomplish their goals with your software. </a:t>
            </a:r>
          </a:p>
          <a:p>
            <a:r>
              <a:rPr lang="en-US" sz="2400" dirty="0">
                <a:latin typeface="Times New Roman" pitchFamily="18" charset="0"/>
                <a:cs typeface="Times New Roman" pitchFamily="18" charset="0"/>
              </a:rPr>
              <a:t>It is easy to get too close to the problem during development, even for nontechnical people working on specifying the application.</a:t>
            </a:r>
          </a:p>
          <a:p>
            <a:r>
              <a:rPr lang="en-US" sz="2400" dirty="0">
                <a:latin typeface="Times New Roman" pitchFamily="18" charset="0"/>
                <a:cs typeface="Times New Roman" pitchFamily="18" charset="0"/>
              </a:rPr>
              <a:t>Usability testing is therefore the ultimate test that your application is actually going to deliver value to users</a:t>
            </a:r>
          </a:p>
        </p:txBody>
      </p:sp>
    </p:spTree>
    <p:extLst>
      <p:ext uri="{BB962C8B-B14F-4D97-AF65-F5344CB8AC3E}">
        <p14:creationId xmlns:p14="http://schemas.microsoft.com/office/powerpoint/2010/main" val="142231393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Business-Facing Tests That Critique the Project</a:t>
            </a:r>
            <a:endParaRPr lang="en-US" dirty="0"/>
          </a:p>
        </p:txBody>
      </p:sp>
      <p:sp>
        <p:nvSpPr>
          <p:cNvPr id="3" name="Content Placeholder 2"/>
          <p:cNvSpPr>
            <a:spLocks noGrp="1"/>
          </p:cNvSpPr>
          <p:nvPr>
            <p:ph idx="1"/>
          </p:nvPr>
        </p:nvSpPr>
        <p:spPr/>
        <p:txBody>
          <a:bodyPr>
            <a:normAutofit/>
          </a:bodyPr>
          <a:lstStyle/>
          <a:p>
            <a:r>
              <a:rPr lang="en-US" sz="2800" dirty="0">
                <a:latin typeface="Times New Roman" pitchFamily="18" charset="0"/>
                <a:cs typeface="Times New Roman" pitchFamily="18" charset="0"/>
              </a:rPr>
              <a:t>Usability testers gather metrics, noting how long it takes users to finish their tasks, watching out for people pressing the wrong buttons, noting how long it takes them to find the right text field etc.</a:t>
            </a:r>
          </a:p>
        </p:txBody>
      </p:sp>
    </p:spTree>
    <p:extLst>
      <p:ext uri="{BB962C8B-B14F-4D97-AF65-F5344CB8AC3E}">
        <p14:creationId xmlns:p14="http://schemas.microsoft.com/office/powerpoint/2010/main" val="60327758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Technology-Facing Tests That Critique the Project</a:t>
            </a:r>
            <a:endParaRPr lang="en-US" dirty="0"/>
          </a:p>
        </p:txBody>
      </p:sp>
      <p:sp>
        <p:nvSpPr>
          <p:cNvPr id="3" name="Content Placeholder 2"/>
          <p:cNvSpPr>
            <a:spLocks noGrp="1"/>
          </p:cNvSpPr>
          <p:nvPr>
            <p:ph idx="1"/>
          </p:nvPr>
        </p:nvSpPr>
        <p:spPr/>
        <p:txBody>
          <a:bodyPr>
            <a:noAutofit/>
          </a:bodyPr>
          <a:lstStyle/>
          <a:p>
            <a:r>
              <a:rPr lang="en-US" sz="2800" dirty="0">
                <a:latin typeface="Times New Roman" pitchFamily="18" charset="0"/>
                <a:cs typeface="Times New Roman" pitchFamily="18" charset="0"/>
              </a:rPr>
              <a:t>Acceptance testing comes in two categories: functional tests and nonfunctional tests.</a:t>
            </a:r>
          </a:p>
          <a:p>
            <a:r>
              <a:rPr lang="en-US" sz="2800" dirty="0">
                <a:latin typeface="Times New Roman" pitchFamily="18" charset="0"/>
                <a:cs typeface="Times New Roman" pitchFamily="18" charset="0"/>
              </a:rPr>
              <a:t>By nonfunctional tests, we mean all the qualities of a system other than its functionality, such as capacity, availability, security, and so forth</a:t>
            </a:r>
          </a:p>
        </p:txBody>
      </p:sp>
    </p:spTree>
    <p:extLst>
      <p:ext uri="{BB962C8B-B14F-4D97-AF65-F5344CB8AC3E}">
        <p14:creationId xmlns:p14="http://schemas.microsoft.com/office/powerpoint/2010/main" val="424905018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4696" y="499719"/>
            <a:ext cx="9520158" cy="1049235"/>
          </a:xfrm>
        </p:spPr>
        <p:txBody>
          <a:bodyPr/>
          <a:lstStyle/>
          <a:p>
            <a:r>
              <a:rPr lang="en-US" b="1" i="1" dirty="0"/>
              <a:t>Test Doubles</a:t>
            </a:r>
            <a:endParaRPr lang="en-US" dirty="0"/>
          </a:p>
        </p:txBody>
      </p:sp>
      <p:sp>
        <p:nvSpPr>
          <p:cNvPr id="3" name="Content Placeholder 2"/>
          <p:cNvSpPr>
            <a:spLocks noGrp="1"/>
          </p:cNvSpPr>
          <p:nvPr>
            <p:ph idx="1"/>
          </p:nvPr>
        </p:nvSpPr>
        <p:spPr>
          <a:xfrm>
            <a:off x="1454014" y="1703693"/>
            <a:ext cx="9520158" cy="3450613"/>
          </a:xfrm>
        </p:spPr>
        <p:txBody>
          <a:bodyPr>
            <a:noAutofit/>
          </a:bodyPr>
          <a:lstStyle/>
          <a:p>
            <a:r>
              <a:rPr lang="en-US" sz="2800" dirty="0">
                <a:latin typeface="Times New Roman" pitchFamily="18" charset="0"/>
                <a:cs typeface="Times New Roman" pitchFamily="18" charset="0"/>
              </a:rPr>
              <a:t>Replacing part of a system at run time with a simulated version.</a:t>
            </a:r>
          </a:p>
          <a:p>
            <a:r>
              <a:rPr lang="en-US" sz="2800" dirty="0">
                <a:latin typeface="Times New Roman" pitchFamily="18" charset="0"/>
                <a:cs typeface="Times New Roman" pitchFamily="18" charset="0"/>
              </a:rPr>
              <a:t>A test double is an object that can stand in for a real object in a test.</a:t>
            </a:r>
          </a:p>
          <a:p>
            <a:r>
              <a:rPr lang="en-US" sz="2800" dirty="0">
                <a:latin typeface="Times New Roman" pitchFamily="18" charset="0"/>
                <a:cs typeface="Times New Roman" pitchFamily="18" charset="0"/>
              </a:rPr>
              <a:t>The most common types of test doubles are stubs, mocks, and fakes. </a:t>
            </a:r>
          </a:p>
          <a:p>
            <a:r>
              <a:rPr lang="en-US" sz="2800" dirty="0">
                <a:latin typeface="Times New Roman" pitchFamily="18" charset="0"/>
                <a:cs typeface="Times New Roman" pitchFamily="18" charset="0"/>
              </a:rPr>
              <a:t>Meszaros coined the generic term “test doubles” and distinguishes  the various types of test doubles as follows</a:t>
            </a:r>
          </a:p>
        </p:txBody>
      </p:sp>
    </p:spTree>
    <p:extLst>
      <p:ext uri="{BB962C8B-B14F-4D97-AF65-F5344CB8AC3E}">
        <p14:creationId xmlns:p14="http://schemas.microsoft.com/office/powerpoint/2010/main" val="8808802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2800" dirty="0">
                <a:latin typeface="Times New Roman" pitchFamily="18" charset="0"/>
                <a:cs typeface="Times New Roman" pitchFamily="18" charset="0"/>
              </a:rPr>
              <a:t>Dummy objects are passed around but never actually used. Usually they are just used to fill parameter lists.</a:t>
            </a:r>
          </a:p>
          <a:p>
            <a:r>
              <a:rPr lang="en-US" sz="2800" dirty="0">
                <a:latin typeface="Times New Roman" pitchFamily="18" charset="0"/>
                <a:cs typeface="Times New Roman" pitchFamily="18" charset="0"/>
              </a:rPr>
              <a:t>Fake objects actually have working implementations, but usually take some shortcut that makes them not suitable for production. </a:t>
            </a:r>
            <a:r>
              <a:rPr lang="en-US" sz="2800" dirty="0" err="1">
                <a:latin typeface="Times New Roman" pitchFamily="18" charset="0"/>
                <a:cs typeface="Times New Roman" pitchFamily="18" charset="0"/>
              </a:rPr>
              <a:t>Eg</a:t>
            </a:r>
            <a:r>
              <a:rPr lang="en-US" sz="2800" dirty="0">
                <a:latin typeface="Times New Roman" pitchFamily="18" charset="0"/>
                <a:cs typeface="Times New Roman" pitchFamily="18" charset="0"/>
              </a:rPr>
              <a:t> in-memory database.</a:t>
            </a:r>
          </a:p>
        </p:txBody>
      </p:sp>
    </p:spTree>
    <p:extLst>
      <p:ext uri="{BB962C8B-B14F-4D97-AF65-F5344CB8AC3E}">
        <p14:creationId xmlns:p14="http://schemas.microsoft.com/office/powerpoint/2010/main" val="151623434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2800" dirty="0">
                <a:latin typeface="Times New Roman" pitchFamily="18" charset="0"/>
                <a:cs typeface="Times New Roman" pitchFamily="18" charset="0"/>
              </a:rPr>
              <a:t>Stubs provide canned answers to the calls made during the test, usually not responding at all to anything outside what’s programmed in for the test.</a:t>
            </a:r>
          </a:p>
          <a:p>
            <a:r>
              <a:rPr lang="en-US" sz="2800" dirty="0">
                <a:latin typeface="Times New Roman" pitchFamily="18" charset="0"/>
                <a:cs typeface="Times New Roman" pitchFamily="18" charset="0"/>
              </a:rPr>
              <a:t>Spies are stubs that also record some information based on how they were called. One form of this might be an email service that records how many messages it was sent.</a:t>
            </a:r>
          </a:p>
        </p:txBody>
      </p:sp>
    </p:spTree>
    <p:extLst>
      <p:ext uri="{BB962C8B-B14F-4D97-AF65-F5344CB8AC3E}">
        <p14:creationId xmlns:p14="http://schemas.microsoft.com/office/powerpoint/2010/main" val="303457918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2800" dirty="0">
                <a:latin typeface="Times New Roman" pitchFamily="18" charset="0"/>
                <a:cs typeface="Times New Roman" pitchFamily="18" charset="0"/>
              </a:rPr>
              <a:t>Mocks are preprogrammed with expectations that form a specification of the calls they are expected to receive. They can throw an exception if they receive a call they don’t expect and are checked during verification to ensure they got all the calls they were expecting</a:t>
            </a:r>
          </a:p>
        </p:txBody>
      </p:sp>
    </p:spTree>
    <p:extLst>
      <p:ext uri="{BB962C8B-B14F-4D97-AF65-F5344CB8AC3E}">
        <p14:creationId xmlns:p14="http://schemas.microsoft.com/office/powerpoint/2010/main" val="179752257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EDEBE7"/>
      </a:lt2>
      <a:accent1>
        <a:srgbClr val="5FA534"/>
      </a:accent1>
      <a:accent2>
        <a:srgbClr val="DCAB34"/>
      </a:accent2>
      <a:accent3>
        <a:srgbClr val="D26D23"/>
      </a:accent3>
      <a:accent4>
        <a:srgbClr val="972323"/>
      </a:accent4>
      <a:accent5>
        <a:srgbClr val="236797"/>
      </a:accent5>
      <a:accent6>
        <a:srgbClr val="2FB6C6"/>
      </a:accent6>
      <a:hlink>
        <a:srgbClr val="8FC639"/>
      </a:hlink>
      <a:folHlink>
        <a:srgbClr val="E7C272"/>
      </a:folHlink>
    </a:clrScheme>
    <a:fontScheme name="Gallery">
      <a:majorFont>
        <a:latin typeface="Palatino Linoty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AC464412-510E-4F2B-8947-A0DDBD02899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2200</TotalTime>
  <Words>6084</Words>
  <Application>Microsoft Office PowerPoint</Application>
  <PresentationFormat>Widescreen</PresentationFormat>
  <Paragraphs>366</Paragraphs>
  <Slides>104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104</vt:i4>
      </vt:variant>
    </vt:vector>
  </HeadingPairs>
  <TitlesOfParts>
    <vt:vector size="110" baseType="lpstr">
      <vt:lpstr>Arial</vt:lpstr>
      <vt:lpstr>Calibri</vt:lpstr>
      <vt:lpstr>Palatino Linotype</vt:lpstr>
      <vt:lpstr>Times New Roman</vt:lpstr>
      <vt:lpstr>Wingdings</vt:lpstr>
      <vt:lpstr>Gallery</vt:lpstr>
      <vt:lpstr>Application Development and Maintenance</vt:lpstr>
      <vt:lpstr>PowerPoint Presentation</vt:lpstr>
      <vt:lpstr>Principles of Software Delivery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Principles of Software Delivery</vt:lpstr>
      <vt:lpstr>PowerPoint Presentation</vt:lpstr>
      <vt:lpstr>PowerPoint Presentation</vt:lpstr>
      <vt:lpstr>Conﬁguration management </vt:lpstr>
      <vt:lpstr>PowerPoint Presentation</vt:lpstr>
      <vt:lpstr> Using Version Control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Dependencies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Managing Software Configuration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Continuous Integration</vt:lpstr>
      <vt:lpstr>Continuous Integration</vt:lpstr>
      <vt:lpstr>A Basic Continuous Integration System </vt:lpstr>
      <vt:lpstr>Prerequisites for continuous Integration</vt:lpstr>
      <vt:lpstr>PowerPoint Presentation</vt:lpstr>
      <vt:lpstr>PowerPoint Presentation</vt:lpstr>
      <vt:lpstr>PowerPoint Presentation</vt:lpstr>
      <vt:lpstr>PowerPoint Presentation</vt:lpstr>
      <vt:lpstr>PowerPoint Presentation</vt:lpstr>
      <vt:lpstr>PowerPoint Presentation</vt:lpstr>
      <vt:lpstr>Using Continuous Integration Software</vt:lpstr>
      <vt:lpstr>PowerPoint Presentation</vt:lpstr>
      <vt:lpstr>PowerPoint Presentation</vt:lpstr>
      <vt:lpstr>Using Continuous Integration Software-Essential Practices </vt:lpstr>
      <vt:lpstr> </vt:lpstr>
      <vt:lpstr>PowerPoint Presentation</vt:lpstr>
      <vt:lpstr> </vt:lpstr>
      <vt:lpstr>Using Continuous Integration Software-Essential Practices </vt:lpstr>
      <vt:lpstr>Using Continuous Integration Software-Essential Practices </vt:lpstr>
      <vt:lpstr>Using Continuous Integration Software-Essential Practices </vt:lpstr>
      <vt:lpstr>Using Continuous Integration Software-Essential Practices </vt:lpstr>
      <vt:lpstr>Using Continuous Integration Software-Essential Practices </vt:lpstr>
      <vt:lpstr>Using Continuous Integration Software-Essential Practices </vt:lpstr>
      <vt:lpstr>Using Continuous Integration Software-Essential Practices </vt:lpstr>
      <vt:lpstr>Using Continuous Integration Software-Essential Practices </vt:lpstr>
      <vt:lpstr>Using Continuous Integration Software-Essential Practices </vt:lpstr>
      <vt:lpstr>Using Continuous Integration Software-Essential Practices </vt:lpstr>
      <vt:lpstr>Using Continuous Integration Software-Essential Practices </vt:lpstr>
      <vt:lpstr>Using Continuous Integration Software-Essential Practices </vt:lpstr>
      <vt:lpstr>Using Continuous Integration Software-Essential Practices </vt:lpstr>
      <vt:lpstr>Distributed Version Control Systems</vt:lpstr>
      <vt:lpstr>Distributed Version Control Systems</vt:lpstr>
      <vt:lpstr>Implementing a Testing Strategy</vt:lpstr>
      <vt:lpstr>PowerPoint Presentation</vt:lpstr>
      <vt:lpstr>Implementing a Testing Strategy</vt:lpstr>
      <vt:lpstr>Business-Facing Tests That Support the Development Process</vt:lpstr>
      <vt:lpstr>Business-Facing Tests That Support the Development Process</vt:lpstr>
      <vt:lpstr>Business-Facing Tests That Support the Development Process</vt:lpstr>
      <vt:lpstr>Business-Facing Tests That Support the Development Process</vt:lpstr>
      <vt:lpstr>Business-Facing Tests That Support the Development Process </vt:lpstr>
      <vt:lpstr>Business-Facing Tests That Support the Development Process </vt:lpstr>
      <vt:lpstr>Business-Facing Tests That Support the Development Process </vt:lpstr>
      <vt:lpstr>PowerPoint Presentation</vt:lpstr>
      <vt:lpstr>Technology-Facing Tests That Support the Development Process</vt:lpstr>
      <vt:lpstr>Technology-Facing Tests That Support the Development Process</vt:lpstr>
      <vt:lpstr>Technology-Facing Tests That Support the Development Process</vt:lpstr>
      <vt:lpstr>Business-Facing Tests That Critique the Project</vt:lpstr>
      <vt:lpstr>Business-Facing Tests That Critique the Project</vt:lpstr>
      <vt:lpstr>Business-Facing Tests That Critique the Project</vt:lpstr>
      <vt:lpstr>Business-Facing Tests That Critique the Project</vt:lpstr>
      <vt:lpstr>Business-Facing Tests That Critique the Project</vt:lpstr>
      <vt:lpstr>Business-Facing Tests That Critique the Project</vt:lpstr>
      <vt:lpstr>Technology-Facing Tests That Critique the Project</vt:lpstr>
      <vt:lpstr>Test Doubles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Jetty</dc:creator>
  <cp:lastModifiedBy>lakshmipradeep0604@gmail.com</cp:lastModifiedBy>
  <cp:revision>238</cp:revision>
  <dcterms:created xsi:type="dcterms:W3CDTF">2017-01-05T19:27:01Z</dcterms:created>
  <dcterms:modified xsi:type="dcterms:W3CDTF">2021-05-24T02:43:38Z</dcterms:modified>
</cp:coreProperties>
</file>